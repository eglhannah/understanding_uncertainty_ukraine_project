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8" r:id="rId4"/>
    <p:sldId id="257" r:id="rId5"/>
    <p:sldId id="263" r:id="rId6"/>
    <p:sldId id="264" r:id="rId7"/>
    <p:sldId id="259" r:id="rId8"/>
    <p:sldId id="265" r:id="rId9"/>
    <p:sldId id="266" r:id="rId10"/>
    <p:sldId id="267" r:id="rId11"/>
    <p:sldId id="260" r:id="rId12"/>
    <p:sldId id="26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71" d="100"/>
          <a:sy n="71" d="100"/>
        </p:scale>
        <p:origin x="2112" y="10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rdall\Documents\2%20DS5030%20Uncertainty\project1\visuals%20for%20markov%20projections.xlsx" TargetMode="External"/><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0" i="0" u="none" strike="noStrike" kern="1200" spc="0" baseline="0" dirty="0">
                <a:solidFill>
                  <a:prstClr val="black">
                    <a:lumMod val="65000"/>
                    <a:lumOff val="35000"/>
                  </a:prstClr>
                </a:solidFill>
              </a:rPr>
              <a:t>Markov Projections for Oblasts After 25 Strikes</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25 Strikes</c:v>
          </c:tx>
          <c:spPr>
            <a:solidFill>
              <a:schemeClr val="accent1"/>
            </a:solidFill>
            <a:ln>
              <a:noFill/>
            </a:ln>
            <a:effectLst/>
          </c:spPr>
          <c:invertIfNegative val="0"/>
          <c:val>
            <c:numRef>
              <c:f>oblast!$F$3:$F$30</c:f>
              <c:numCache>
                <c:formatCode>General</c:formatCode>
                <c:ptCount val="28"/>
                <c:pt idx="0">
                  <c:v>2.4153999999999998E-2</c:v>
                </c:pt>
                <c:pt idx="1">
                  <c:v>5.2779999999999997E-3</c:v>
                </c:pt>
                <c:pt idx="2">
                  <c:v>2.6602000000000001E-2</c:v>
                </c:pt>
                <c:pt idx="3">
                  <c:v>2.1278999999999999E-2</c:v>
                </c:pt>
                <c:pt idx="4">
                  <c:v>6.6E-4</c:v>
                </c:pt>
                <c:pt idx="5">
                  <c:v>0.13992299999999999</c:v>
                </c:pt>
                <c:pt idx="6">
                  <c:v>8.4139999999999996E-3</c:v>
                </c:pt>
                <c:pt idx="7">
                  <c:v>2.0535000000000001E-2</c:v>
                </c:pt>
                <c:pt idx="8">
                  <c:v>8.6224999999999996E-2</c:v>
                </c:pt>
                <c:pt idx="9">
                  <c:v>0.25146400000000002</c:v>
                </c:pt>
                <c:pt idx="10">
                  <c:v>6.3506999999999994E-2</c:v>
                </c:pt>
                <c:pt idx="11">
                  <c:v>2.186E-3</c:v>
                </c:pt>
                <c:pt idx="12">
                  <c:v>3.3113999999999998E-2</c:v>
                </c:pt>
                <c:pt idx="13">
                  <c:v>9.0700000000000004E-4</c:v>
                </c:pt>
                <c:pt idx="14">
                  <c:v>7.3010000000000002E-3</c:v>
                </c:pt>
                <c:pt idx="15">
                  <c:v>0.16714399999999999</c:v>
                </c:pt>
                <c:pt idx="16">
                  <c:v>2.7667000000000001E-2</c:v>
                </c:pt>
                <c:pt idx="17">
                  <c:v>9.4997999999999999E-2</c:v>
                </c:pt>
                <c:pt idx="18">
                  <c:v>2.764E-3</c:v>
                </c:pt>
                <c:pt idx="19">
                  <c:v>5.483E-3</c:v>
                </c:pt>
                <c:pt idx="20">
                  <c:v>1.526E-3</c:v>
                </c:pt>
                <c:pt idx="21">
                  <c:v>3.3E-4</c:v>
                </c:pt>
                <c:pt idx="22">
                  <c:v>6.6E-4</c:v>
                </c:pt>
                <c:pt idx="23">
                  <c:v>2.8899999999999998E-4</c:v>
                </c:pt>
                <c:pt idx="24">
                  <c:v>7.8399999999999997E-4</c:v>
                </c:pt>
                <c:pt idx="25">
                  <c:v>6.1040000000000001E-3</c:v>
                </c:pt>
                <c:pt idx="26">
                  <c:v>2.0599999999999999E-4</c:v>
                </c:pt>
                <c:pt idx="27">
                  <c:v>4.95E-4</c:v>
                </c:pt>
              </c:numCache>
            </c:numRef>
          </c:val>
          <c:extLst>
            <c:ext xmlns:c16="http://schemas.microsoft.com/office/drawing/2014/chart" uri="{C3380CC4-5D6E-409C-BE32-E72D297353CC}">
              <c16:uniqueId val="{00000000-86BE-406A-85B8-C92057EC1DFA}"/>
            </c:ext>
          </c:extLst>
        </c:ser>
        <c:dLbls>
          <c:showLegendKey val="0"/>
          <c:showVal val="0"/>
          <c:showCatName val="0"/>
          <c:showSerName val="0"/>
          <c:showPercent val="0"/>
          <c:showBubbleSize val="0"/>
        </c:dLbls>
        <c:gapWidth val="219"/>
        <c:overlap val="-27"/>
        <c:axId val="612371087"/>
        <c:axId val="612374927"/>
      </c:barChart>
      <c:catAx>
        <c:axId val="61237108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Oblasts (Regions/States)</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74927"/>
        <c:crosses val="autoZero"/>
        <c:auto val="1"/>
        <c:lblAlgn val="ctr"/>
        <c:lblOffset val="100"/>
        <c:noMultiLvlLbl val="0"/>
      </c:catAx>
      <c:valAx>
        <c:axId val="61237492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Probability of Strike Within Oblast After 25 Strikes</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710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prstClr val="black">
                    <a:lumMod val="65000"/>
                    <a:lumOff val="35000"/>
                  </a:prstClr>
                </a:solidFill>
                <a:latin typeface="+mn-lt"/>
                <a:ea typeface="+mn-ea"/>
                <a:cs typeface="+mn-cs"/>
              </a:defRPr>
            </a:pPr>
            <a:r>
              <a:rPr lang="en-US" sz="1800" b="0" i="0" u="none" strike="noStrike" kern="1200" spc="0" baseline="0" dirty="0">
                <a:solidFill>
                  <a:prstClr val="black">
                    <a:lumMod val="65000"/>
                    <a:lumOff val="35000"/>
                  </a:prstClr>
                </a:solidFill>
              </a:rPr>
              <a:t>Markov Projections for Oblasts After </a:t>
            </a:r>
            <a:r>
              <a:rPr lang="en-US" sz="1800" dirty="0"/>
              <a:t>2000 Strikes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barChart>
        <c:barDir val="col"/>
        <c:grouping val="clustered"/>
        <c:varyColors val="0"/>
        <c:ser>
          <c:idx val="0"/>
          <c:order val="0"/>
          <c:tx>
            <c:v>2000 Strikes</c:v>
          </c:tx>
          <c:spPr>
            <a:solidFill>
              <a:schemeClr val="accent1"/>
            </a:solidFill>
            <a:ln>
              <a:noFill/>
            </a:ln>
            <a:effectLst/>
          </c:spPr>
          <c:invertIfNegative val="0"/>
          <c:val>
            <c:numRef>
              <c:f>oblast!$M$3:$M$30</c:f>
              <c:numCache>
                <c:formatCode>General</c:formatCode>
                <c:ptCount val="28"/>
                <c:pt idx="0">
                  <c:v>2.4139000000000001E-2</c:v>
                </c:pt>
                <c:pt idx="1">
                  <c:v>5.2729999999999999E-3</c:v>
                </c:pt>
                <c:pt idx="2">
                  <c:v>2.6578000000000001E-2</c:v>
                </c:pt>
                <c:pt idx="3">
                  <c:v>2.1262E-2</c:v>
                </c:pt>
                <c:pt idx="4">
                  <c:v>6.5899999999999997E-4</c:v>
                </c:pt>
                <c:pt idx="5">
                  <c:v>0.13980899999999999</c:v>
                </c:pt>
                <c:pt idx="6">
                  <c:v>8.4069999999999995E-3</c:v>
                </c:pt>
                <c:pt idx="7">
                  <c:v>2.0518999999999999E-2</c:v>
                </c:pt>
                <c:pt idx="8">
                  <c:v>8.6940000000000003E-2</c:v>
                </c:pt>
                <c:pt idx="9">
                  <c:v>0.25122</c:v>
                </c:pt>
                <c:pt idx="10">
                  <c:v>6.3461000000000004E-2</c:v>
                </c:pt>
                <c:pt idx="11">
                  <c:v>2.1840000000000002E-3</c:v>
                </c:pt>
                <c:pt idx="12">
                  <c:v>3.3090000000000001E-2</c:v>
                </c:pt>
                <c:pt idx="13">
                  <c:v>9.0600000000000001E-4</c:v>
                </c:pt>
                <c:pt idx="14">
                  <c:v>7.2940000000000001E-3</c:v>
                </c:pt>
                <c:pt idx="15">
                  <c:v>0.16700200000000001</c:v>
                </c:pt>
                <c:pt idx="16">
                  <c:v>2.7650999999999998E-2</c:v>
                </c:pt>
                <c:pt idx="17">
                  <c:v>9.4980999999999996E-2</c:v>
                </c:pt>
                <c:pt idx="18">
                  <c:v>2.761E-3</c:v>
                </c:pt>
                <c:pt idx="19">
                  <c:v>5.4799999999999996E-3</c:v>
                </c:pt>
                <c:pt idx="20">
                  <c:v>1.524E-3</c:v>
                </c:pt>
                <c:pt idx="21">
                  <c:v>3.3E-4</c:v>
                </c:pt>
                <c:pt idx="22">
                  <c:v>6.5899999999999997E-4</c:v>
                </c:pt>
                <c:pt idx="23">
                  <c:v>2.8800000000000001E-4</c:v>
                </c:pt>
                <c:pt idx="24">
                  <c:v>7.8299999999999995E-4</c:v>
                </c:pt>
                <c:pt idx="25">
                  <c:v>6.0980000000000001E-3</c:v>
                </c:pt>
                <c:pt idx="26">
                  <c:v>2.0599999999999999E-4</c:v>
                </c:pt>
                <c:pt idx="27">
                  <c:v>4.9399999999999997E-4</c:v>
                </c:pt>
              </c:numCache>
            </c:numRef>
          </c:val>
          <c:extLst>
            <c:ext xmlns:c16="http://schemas.microsoft.com/office/drawing/2014/chart" uri="{C3380CC4-5D6E-409C-BE32-E72D297353CC}">
              <c16:uniqueId val="{00000000-EA15-427C-8C73-48A7EBB973B9}"/>
            </c:ext>
          </c:extLst>
        </c:ser>
        <c:dLbls>
          <c:showLegendKey val="0"/>
          <c:showVal val="0"/>
          <c:showCatName val="0"/>
          <c:showSerName val="0"/>
          <c:showPercent val="0"/>
          <c:showBubbleSize val="0"/>
        </c:dLbls>
        <c:gapWidth val="219"/>
        <c:overlap val="-27"/>
        <c:axId val="612350927"/>
        <c:axId val="612358607"/>
      </c:barChart>
      <c:catAx>
        <c:axId val="61235092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b="0" i="0" u="none" strike="noStrike" kern="1200" baseline="0">
                    <a:solidFill>
                      <a:sysClr val="windowText" lastClr="000000">
                        <a:lumMod val="65000"/>
                        <a:lumOff val="35000"/>
                      </a:sysClr>
                    </a:solidFill>
                  </a:rPr>
                  <a:t>Oblasts (Regions/States)</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58607"/>
        <c:crosses val="autoZero"/>
        <c:auto val="1"/>
        <c:lblAlgn val="ctr"/>
        <c:lblOffset val="100"/>
        <c:noMultiLvlLbl val="0"/>
      </c:catAx>
      <c:valAx>
        <c:axId val="61235860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b="0" i="0" u="none" strike="noStrike" kern="1200" baseline="0">
                    <a:solidFill>
                      <a:sysClr val="windowText" lastClr="000000">
                        <a:lumMod val="65000"/>
                        <a:lumOff val="35000"/>
                      </a:sysClr>
                    </a:solidFill>
                  </a:rPr>
                  <a:t>Probability of Strike Within Oblast After 2000 Strikes</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5092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prstClr val="black">
                    <a:lumMod val="65000"/>
                    <a:lumOff val="35000"/>
                  </a:prstClr>
                </a:solidFill>
                <a:latin typeface="+mn-lt"/>
                <a:ea typeface="+mn-ea"/>
                <a:cs typeface="+mn-cs"/>
              </a:defRPr>
            </a:pPr>
            <a:r>
              <a:rPr lang="en-US" sz="1800" b="0" i="0" u="none" strike="noStrike" kern="1200" spc="0" baseline="0" dirty="0">
                <a:solidFill>
                  <a:prstClr val="black">
                    <a:lumMod val="65000"/>
                    <a:lumOff val="35000"/>
                  </a:prstClr>
                </a:solidFill>
              </a:rPr>
              <a:t>Markov Projections for Rayons After </a:t>
            </a:r>
            <a:r>
              <a:rPr lang="en-US" sz="1800" dirty="0"/>
              <a:t>25 Strikes</a:t>
            </a: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1200" spc="0" baseline="0">
              <a:solidFill>
                <a:prstClr val="black">
                  <a:lumMod val="65000"/>
                  <a:lumOff val="35000"/>
                </a:prstClr>
              </a:solidFill>
              <a:latin typeface="+mn-lt"/>
              <a:ea typeface="+mn-ea"/>
              <a:cs typeface="+mn-cs"/>
            </a:defRPr>
          </a:pPr>
          <a:endParaRPr lang="en-US"/>
        </a:p>
      </c:txPr>
    </c:title>
    <c:autoTitleDeleted val="0"/>
    <c:plotArea>
      <c:layout>
        <c:manualLayout>
          <c:layoutTarget val="inner"/>
          <c:xMode val="edge"/>
          <c:yMode val="edge"/>
          <c:x val="0.11034368735404138"/>
          <c:y val="0.11373639398427152"/>
          <c:w val="0.85684791369582736"/>
          <c:h val="0.76329850062969318"/>
        </c:manualLayout>
      </c:layout>
      <c:barChart>
        <c:barDir val="col"/>
        <c:grouping val="clustered"/>
        <c:varyColors val="0"/>
        <c:ser>
          <c:idx val="0"/>
          <c:order val="0"/>
          <c:tx>
            <c:v>25 Strikes</c:v>
          </c:tx>
          <c:spPr>
            <a:solidFill>
              <a:schemeClr val="accent1"/>
            </a:solidFill>
            <a:ln>
              <a:noFill/>
            </a:ln>
            <a:effectLst/>
          </c:spPr>
          <c:invertIfNegative val="0"/>
          <c:val>
            <c:numRef>
              <c:f>rayon!$F$16:$F$129</c:f>
              <c:numCache>
                <c:formatCode>General</c:formatCode>
                <c:ptCount val="114"/>
                <c:pt idx="0">
                  <c:v>6.5709999999999996E-3</c:v>
                </c:pt>
                <c:pt idx="1">
                  <c:v>0.35929899999999998</c:v>
                </c:pt>
                <c:pt idx="2">
                  <c:v>5.7700000000000004E-4</c:v>
                </c:pt>
                <c:pt idx="3">
                  <c:v>5.3897E-2</c:v>
                </c:pt>
                <c:pt idx="4">
                  <c:v>5.3600000000000002E-4</c:v>
                </c:pt>
                <c:pt idx="5">
                  <c:v>1.2692E-2</c:v>
                </c:pt>
                <c:pt idx="6">
                  <c:v>3.3379999999999998E-3</c:v>
                </c:pt>
                <c:pt idx="7">
                  <c:v>1.5659999999999999E-3</c:v>
                </c:pt>
                <c:pt idx="8">
                  <c:v>3.9969999999999997E-3</c:v>
                </c:pt>
                <c:pt idx="9">
                  <c:v>7.8299999999999995E-4</c:v>
                </c:pt>
                <c:pt idx="10">
                  <c:v>2.6581E-2</c:v>
                </c:pt>
                <c:pt idx="11">
                  <c:v>2.1840000000000002E-3</c:v>
                </c:pt>
                <c:pt idx="12">
                  <c:v>5.3600000000000002E-4</c:v>
                </c:pt>
                <c:pt idx="13">
                  <c:v>3.3E-4</c:v>
                </c:pt>
                <c:pt idx="14">
                  <c:v>2.9260000000000002E-3</c:v>
                </c:pt>
                <c:pt idx="15">
                  <c:v>7.0100000000000002E-4</c:v>
                </c:pt>
                <c:pt idx="16">
                  <c:v>1.4829999999999999E-3</c:v>
                </c:pt>
                <c:pt idx="17">
                  <c:v>3.0079999999999998E-3</c:v>
                </c:pt>
                <c:pt idx="18">
                  <c:v>5.3600000000000002E-4</c:v>
                </c:pt>
                <c:pt idx="19">
                  <c:v>1.4545000000000001E-2</c:v>
                </c:pt>
                <c:pt idx="20">
                  <c:v>2.5959999999999998E-3</c:v>
                </c:pt>
                <c:pt idx="21">
                  <c:v>9.3715000000000007E-2</c:v>
                </c:pt>
                <c:pt idx="22">
                  <c:v>1.1743999999999999E-2</c:v>
                </c:pt>
                <c:pt idx="23">
                  <c:v>1.9780000000000002E-3</c:v>
                </c:pt>
                <c:pt idx="24">
                  <c:v>9.0700000000000004E-4</c:v>
                </c:pt>
                <c:pt idx="25">
                  <c:v>4.8912999999999998E-2</c:v>
                </c:pt>
                <c:pt idx="26">
                  <c:v>1.2769999999999999E-3</c:v>
                </c:pt>
                <c:pt idx="27">
                  <c:v>1.1130000000000001E-3</c:v>
                </c:pt>
                <c:pt idx="28">
                  <c:v>1.2400000000000001E-4</c:v>
                </c:pt>
                <c:pt idx="29">
                  <c:v>1.0919E-2</c:v>
                </c:pt>
                <c:pt idx="30">
                  <c:v>3.0231999999999998E-2</c:v>
                </c:pt>
                <c:pt idx="31">
                  <c:v>1.1455E-2</c:v>
                </c:pt>
                <c:pt idx="32">
                  <c:v>1.2526000000000001E-2</c:v>
                </c:pt>
                <c:pt idx="33">
                  <c:v>3.0500000000000002E-3</c:v>
                </c:pt>
                <c:pt idx="34">
                  <c:v>1.9491000000000001E-2</c:v>
                </c:pt>
                <c:pt idx="35">
                  <c:v>1.1786E-2</c:v>
                </c:pt>
                <c:pt idx="36">
                  <c:v>0.101953</c:v>
                </c:pt>
                <c:pt idx="37">
                  <c:v>5.522E-3</c:v>
                </c:pt>
                <c:pt idx="38">
                  <c:v>1.3558000000000001E-2</c:v>
                </c:pt>
                <c:pt idx="39">
                  <c:v>2.0609999999999999E-3</c:v>
                </c:pt>
                <c:pt idx="40">
                  <c:v>7.7889999999999999E-3</c:v>
                </c:pt>
                <c:pt idx="41">
                  <c:v>1.4629E-2</c:v>
                </c:pt>
                <c:pt idx="42">
                  <c:v>1.8379E-2</c:v>
                </c:pt>
                <c:pt idx="43">
                  <c:v>1.4629E-2</c:v>
                </c:pt>
                <c:pt idx="44">
                  <c:v>1.3600000000000001E-3</c:v>
                </c:pt>
                <c:pt idx="45">
                  <c:v>4.5329999999999997E-3</c:v>
                </c:pt>
                <c:pt idx="46">
                  <c:v>2.4719999999999998E-3</c:v>
                </c:pt>
                <c:pt idx="47">
                  <c:v>4.4510000000000001E-3</c:v>
                </c:pt>
                <c:pt idx="48">
                  <c:v>1.0709999999999999E-3</c:v>
                </c:pt>
                <c:pt idx="49">
                  <c:v>1.2359999999999999E-3</c:v>
                </c:pt>
                <c:pt idx="50">
                  <c:v>8.2000000000000001E-5</c:v>
                </c:pt>
                <c:pt idx="51">
                  <c:v>1.9199999999999998E-2</c:v>
                </c:pt>
                <c:pt idx="52">
                  <c:v>8.2000000000000001E-5</c:v>
                </c:pt>
                <c:pt idx="53">
                  <c:v>1.2400000000000001E-4</c:v>
                </c:pt>
                <c:pt idx="54">
                  <c:v>8.2399999999999997E-4</c:v>
                </c:pt>
                <c:pt idx="55">
                  <c:v>1.8129999999999999E-3</c:v>
                </c:pt>
                <c:pt idx="56">
                  <c:v>8.2399999999999997E-4</c:v>
                </c:pt>
                <c:pt idx="57">
                  <c:v>5.3600000000000002E-4</c:v>
                </c:pt>
                <c:pt idx="58">
                  <c:v>2.8800000000000001E-4</c:v>
                </c:pt>
                <c:pt idx="59">
                  <c:v>2.0599999999999999E-4</c:v>
                </c:pt>
                <c:pt idx="60">
                  <c:v>2.3900000000000002E-3</c:v>
                </c:pt>
                <c:pt idx="61">
                  <c:v>4.1E-5</c:v>
                </c:pt>
                <c:pt idx="62">
                  <c:v>4.5300000000000001E-4</c:v>
                </c:pt>
                <c:pt idx="63">
                  <c:v>2.4320000000000001E-3</c:v>
                </c:pt>
                <c:pt idx="64">
                  <c:v>1.2400000000000001E-4</c:v>
                </c:pt>
                <c:pt idx="65">
                  <c:v>8.2000000000000001E-5</c:v>
                </c:pt>
                <c:pt idx="66">
                  <c:v>8.2399999999999997E-4</c:v>
                </c:pt>
                <c:pt idx="67">
                  <c:v>1.0709999999999999E-3</c:v>
                </c:pt>
                <c:pt idx="68">
                  <c:v>8.2000000000000001E-5</c:v>
                </c:pt>
                <c:pt idx="69">
                  <c:v>1.524E-3</c:v>
                </c:pt>
                <c:pt idx="70">
                  <c:v>1.6410000000000001E-3</c:v>
                </c:pt>
                <c:pt idx="71">
                  <c:v>1.65E-4</c:v>
                </c:pt>
                <c:pt idx="72">
                  <c:v>3.7100000000000002E-4</c:v>
                </c:pt>
                <c:pt idx="73">
                  <c:v>2.4699999999999999E-4</c:v>
                </c:pt>
                <c:pt idx="74">
                  <c:v>5.3600000000000002E-4</c:v>
                </c:pt>
                <c:pt idx="75">
                  <c:v>4.9399999999999997E-4</c:v>
                </c:pt>
                <c:pt idx="76">
                  <c:v>1.65E-4</c:v>
                </c:pt>
                <c:pt idx="77">
                  <c:v>1.4009999999999999E-3</c:v>
                </c:pt>
                <c:pt idx="78">
                  <c:v>8.2399999999999997E-4</c:v>
                </c:pt>
                <c:pt idx="79">
                  <c:v>1.65E-4</c:v>
                </c:pt>
                <c:pt idx="80">
                  <c:v>8.2000000000000001E-5</c:v>
                </c:pt>
                <c:pt idx="81">
                  <c:v>2.019E-3</c:v>
                </c:pt>
                <c:pt idx="82">
                  <c:v>2.8800000000000001E-4</c:v>
                </c:pt>
                <c:pt idx="83">
                  <c:v>8.6499999999999999E-4</c:v>
                </c:pt>
                <c:pt idx="84">
                  <c:v>2.0599999999999999E-4</c:v>
                </c:pt>
                <c:pt idx="85">
                  <c:v>1.2400000000000001E-4</c:v>
                </c:pt>
                <c:pt idx="86">
                  <c:v>4.1199999999999999E-4</c:v>
                </c:pt>
                <c:pt idx="87">
                  <c:v>1.65E-4</c:v>
                </c:pt>
                <c:pt idx="88">
                  <c:v>2.4699999999999999E-4</c:v>
                </c:pt>
                <c:pt idx="89">
                  <c:v>1.5659999999999999E-3</c:v>
                </c:pt>
                <c:pt idx="90">
                  <c:v>1.65E-4</c:v>
                </c:pt>
                <c:pt idx="91">
                  <c:v>1.2400000000000001E-4</c:v>
                </c:pt>
                <c:pt idx="92">
                  <c:v>4.1E-5</c:v>
                </c:pt>
                <c:pt idx="93">
                  <c:v>4.1E-5</c:v>
                </c:pt>
                <c:pt idx="94">
                  <c:v>8.2299999999999995E-4</c:v>
                </c:pt>
                <c:pt idx="95">
                  <c:v>2.4699999999999999E-4</c:v>
                </c:pt>
                <c:pt idx="96">
                  <c:v>4.5300000000000001E-4</c:v>
                </c:pt>
                <c:pt idx="97">
                  <c:v>4.1E-5</c:v>
                </c:pt>
                <c:pt idx="98">
                  <c:v>4.1E-5</c:v>
                </c:pt>
                <c:pt idx="99">
                  <c:v>8.2999999999999998E-5</c:v>
                </c:pt>
                <c:pt idx="100">
                  <c:v>1.65E-4</c:v>
                </c:pt>
                <c:pt idx="101">
                  <c:v>1.65E-4</c:v>
                </c:pt>
                <c:pt idx="102">
                  <c:v>1.2400000000000001E-4</c:v>
                </c:pt>
                <c:pt idx="103">
                  <c:v>4.1E-5</c:v>
                </c:pt>
                <c:pt idx="104">
                  <c:v>4.1199999999999999E-4</c:v>
                </c:pt>
                <c:pt idx="105">
                  <c:v>4.1E-5</c:v>
                </c:pt>
                <c:pt idx="106">
                  <c:v>4.1E-5</c:v>
                </c:pt>
                <c:pt idx="107">
                  <c:v>4.1E-5</c:v>
                </c:pt>
                <c:pt idx="108">
                  <c:v>4.1E-5</c:v>
                </c:pt>
                <c:pt idx="109">
                  <c:v>8.2000000000000001E-5</c:v>
                </c:pt>
                <c:pt idx="110">
                  <c:v>1.2400000000000001E-4</c:v>
                </c:pt>
                <c:pt idx="111">
                  <c:v>4.1E-5</c:v>
                </c:pt>
                <c:pt idx="112">
                  <c:v>4.1E-5</c:v>
                </c:pt>
                <c:pt idx="113">
                  <c:v>4.1E-5</c:v>
                </c:pt>
              </c:numCache>
            </c:numRef>
          </c:val>
          <c:extLst>
            <c:ext xmlns:c16="http://schemas.microsoft.com/office/drawing/2014/chart" uri="{C3380CC4-5D6E-409C-BE32-E72D297353CC}">
              <c16:uniqueId val="{00000000-F690-48C6-B6EA-9563B54909B0}"/>
            </c:ext>
          </c:extLst>
        </c:ser>
        <c:dLbls>
          <c:showLegendKey val="0"/>
          <c:showVal val="0"/>
          <c:showCatName val="0"/>
          <c:showSerName val="0"/>
          <c:showPercent val="0"/>
          <c:showBubbleSize val="0"/>
        </c:dLbls>
        <c:gapWidth val="219"/>
        <c:overlap val="-27"/>
        <c:axId val="612351887"/>
        <c:axId val="612352847"/>
      </c:barChart>
      <c:catAx>
        <c:axId val="61235188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Rayons</a:t>
                </a:r>
                <a:r>
                  <a:rPr lang="en-US" sz="1200" baseline="0"/>
                  <a:t> (Districts)</a:t>
                </a:r>
                <a:endParaRPr lang="en-US" sz="120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52847"/>
        <c:crosses val="autoZero"/>
        <c:auto val="1"/>
        <c:lblAlgn val="ctr"/>
        <c:lblOffset val="100"/>
        <c:noMultiLvlLbl val="0"/>
      </c:catAx>
      <c:valAx>
        <c:axId val="6123528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Probability</a:t>
                </a:r>
                <a:r>
                  <a:rPr lang="en-US" sz="1200" baseline="0"/>
                  <a:t> of Strike Within RayonAfter 25 Strikes</a:t>
                </a:r>
                <a:endParaRPr lang="en-US" sz="1200"/>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35188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0" i="0" u="none" strike="noStrike" kern="1200" spc="0" baseline="0" dirty="0">
                <a:solidFill>
                  <a:prstClr val="black">
                    <a:lumMod val="65000"/>
                    <a:lumOff val="35000"/>
                  </a:prstClr>
                </a:solidFill>
              </a:rPr>
              <a:t>Markov Projections for Rayons After 2000 Strikes</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barChart>
        <c:barDir val="col"/>
        <c:grouping val="clustered"/>
        <c:varyColors val="0"/>
        <c:ser>
          <c:idx val="0"/>
          <c:order val="0"/>
          <c:tx>
            <c:v>2000 Strikes</c:v>
          </c:tx>
          <c:spPr>
            <a:solidFill>
              <a:schemeClr val="accent1"/>
            </a:solidFill>
            <a:ln>
              <a:noFill/>
            </a:ln>
            <a:effectLst/>
          </c:spPr>
          <c:invertIfNegative val="0"/>
          <c:val>
            <c:numRef>
              <c:f>rayon!$M$16:$M$129</c:f>
              <c:numCache>
                <c:formatCode>General</c:formatCode>
                <c:ptCount val="114"/>
                <c:pt idx="0">
                  <c:v>6.5709999999999996E-3</c:v>
                </c:pt>
                <c:pt idx="1">
                  <c:v>0.35930699999999999</c:v>
                </c:pt>
                <c:pt idx="2">
                  <c:v>5.7700000000000004E-4</c:v>
                </c:pt>
                <c:pt idx="3">
                  <c:v>5.3895999999999999E-2</c:v>
                </c:pt>
                <c:pt idx="4">
                  <c:v>5.3600000000000002E-4</c:v>
                </c:pt>
                <c:pt idx="5">
                  <c:v>1.2692E-2</c:v>
                </c:pt>
                <c:pt idx="6">
                  <c:v>3.3370000000000001E-3</c:v>
                </c:pt>
                <c:pt idx="7">
                  <c:v>1.5659999999999999E-3</c:v>
                </c:pt>
                <c:pt idx="8">
                  <c:v>3.9969999999999997E-3</c:v>
                </c:pt>
                <c:pt idx="9">
                  <c:v>7.8299999999999995E-4</c:v>
                </c:pt>
                <c:pt idx="10">
                  <c:v>2.6579999999999999E-2</c:v>
                </c:pt>
                <c:pt idx="11">
                  <c:v>2.1840000000000002E-3</c:v>
                </c:pt>
                <c:pt idx="12">
                  <c:v>5.3600000000000002E-4</c:v>
                </c:pt>
                <c:pt idx="13">
                  <c:v>3.3E-4</c:v>
                </c:pt>
                <c:pt idx="14">
                  <c:v>2.9260000000000002E-3</c:v>
                </c:pt>
                <c:pt idx="15">
                  <c:v>7.0100000000000002E-4</c:v>
                </c:pt>
                <c:pt idx="16">
                  <c:v>1.4829999999999999E-3</c:v>
                </c:pt>
                <c:pt idx="17">
                  <c:v>3.0079999999999998E-3</c:v>
                </c:pt>
                <c:pt idx="18">
                  <c:v>5.3600000000000002E-4</c:v>
                </c:pt>
                <c:pt idx="19">
                  <c:v>1.4545000000000001E-2</c:v>
                </c:pt>
                <c:pt idx="20">
                  <c:v>2.5959999999999998E-3</c:v>
                </c:pt>
                <c:pt idx="21">
                  <c:v>9.3711000000000003E-2</c:v>
                </c:pt>
                <c:pt idx="22">
                  <c:v>1.1743999999999999E-2</c:v>
                </c:pt>
                <c:pt idx="23">
                  <c:v>1.9780000000000002E-3</c:v>
                </c:pt>
                <c:pt idx="24">
                  <c:v>9.0700000000000004E-4</c:v>
                </c:pt>
                <c:pt idx="25">
                  <c:v>4.8912999999999998E-2</c:v>
                </c:pt>
                <c:pt idx="26">
                  <c:v>1.2769999999999999E-3</c:v>
                </c:pt>
                <c:pt idx="27">
                  <c:v>1.1130000000000001E-3</c:v>
                </c:pt>
                <c:pt idx="28">
                  <c:v>1.2400000000000001E-4</c:v>
                </c:pt>
                <c:pt idx="29">
                  <c:v>1.0918000000000001E-2</c:v>
                </c:pt>
                <c:pt idx="30">
                  <c:v>3.0231000000000001E-2</c:v>
                </c:pt>
                <c:pt idx="31">
                  <c:v>1.1454000000000001E-2</c:v>
                </c:pt>
                <c:pt idx="32">
                  <c:v>1.2527E-2</c:v>
                </c:pt>
                <c:pt idx="33">
                  <c:v>3.0500000000000002E-3</c:v>
                </c:pt>
                <c:pt idx="34">
                  <c:v>1.949E-2</c:v>
                </c:pt>
                <c:pt idx="35">
                  <c:v>1.1786E-2</c:v>
                </c:pt>
                <c:pt idx="36">
                  <c:v>0.10195</c:v>
                </c:pt>
                <c:pt idx="37">
                  <c:v>5.522E-3</c:v>
                </c:pt>
                <c:pt idx="38">
                  <c:v>1.3557E-2</c:v>
                </c:pt>
                <c:pt idx="39">
                  <c:v>2.0609999999999999E-3</c:v>
                </c:pt>
                <c:pt idx="40">
                  <c:v>7.7889999999999999E-3</c:v>
                </c:pt>
                <c:pt idx="41">
                  <c:v>1.4628E-2</c:v>
                </c:pt>
                <c:pt idx="42">
                  <c:v>1.8377999999999999E-2</c:v>
                </c:pt>
                <c:pt idx="43">
                  <c:v>1.4628E-2</c:v>
                </c:pt>
                <c:pt idx="44">
                  <c:v>1.3600000000000001E-3</c:v>
                </c:pt>
                <c:pt idx="45">
                  <c:v>4.5329999999999997E-3</c:v>
                </c:pt>
                <c:pt idx="46">
                  <c:v>2.4719999999999998E-3</c:v>
                </c:pt>
                <c:pt idx="47">
                  <c:v>4.4510000000000001E-3</c:v>
                </c:pt>
                <c:pt idx="48">
                  <c:v>1.0709999999999999E-3</c:v>
                </c:pt>
                <c:pt idx="49">
                  <c:v>1.2359999999999999E-3</c:v>
                </c:pt>
                <c:pt idx="50">
                  <c:v>8.2000000000000001E-5</c:v>
                </c:pt>
                <c:pt idx="51">
                  <c:v>1.9199000000000001E-2</c:v>
                </c:pt>
                <c:pt idx="52">
                  <c:v>8.2000000000000001E-5</c:v>
                </c:pt>
                <c:pt idx="53">
                  <c:v>1.2400000000000001E-4</c:v>
                </c:pt>
                <c:pt idx="54">
                  <c:v>8.2399999999999997E-4</c:v>
                </c:pt>
                <c:pt idx="55">
                  <c:v>1.8129999999999999E-3</c:v>
                </c:pt>
                <c:pt idx="56">
                  <c:v>8.2399999999999997E-4</c:v>
                </c:pt>
                <c:pt idx="57">
                  <c:v>5.3600000000000002E-4</c:v>
                </c:pt>
                <c:pt idx="58">
                  <c:v>2.8800000000000001E-4</c:v>
                </c:pt>
                <c:pt idx="59">
                  <c:v>2.0599999999999999E-4</c:v>
                </c:pt>
                <c:pt idx="60">
                  <c:v>2.3900000000000002E-3</c:v>
                </c:pt>
                <c:pt idx="61">
                  <c:v>4.1E-5</c:v>
                </c:pt>
                <c:pt idx="62">
                  <c:v>4.5300000000000001E-4</c:v>
                </c:pt>
                <c:pt idx="63">
                  <c:v>2.4320000000000001E-3</c:v>
                </c:pt>
                <c:pt idx="64">
                  <c:v>1.2400000000000001E-4</c:v>
                </c:pt>
                <c:pt idx="65">
                  <c:v>8.2000000000000001E-5</c:v>
                </c:pt>
                <c:pt idx="66">
                  <c:v>8.2399999999999997E-4</c:v>
                </c:pt>
                <c:pt idx="67">
                  <c:v>1.0709999999999999E-3</c:v>
                </c:pt>
                <c:pt idx="68">
                  <c:v>8.2000000000000001E-5</c:v>
                </c:pt>
                <c:pt idx="69">
                  <c:v>1.524E-3</c:v>
                </c:pt>
                <c:pt idx="70">
                  <c:v>1.6490000000000001E-3</c:v>
                </c:pt>
                <c:pt idx="71">
                  <c:v>1.65E-4</c:v>
                </c:pt>
                <c:pt idx="72">
                  <c:v>3.7100000000000002E-4</c:v>
                </c:pt>
                <c:pt idx="73">
                  <c:v>2.4699999999999999E-4</c:v>
                </c:pt>
                <c:pt idx="74">
                  <c:v>5.3600000000000002E-4</c:v>
                </c:pt>
                <c:pt idx="75">
                  <c:v>4.9399999999999997E-4</c:v>
                </c:pt>
                <c:pt idx="76">
                  <c:v>1.65E-4</c:v>
                </c:pt>
                <c:pt idx="77">
                  <c:v>1.4009999999999999E-3</c:v>
                </c:pt>
                <c:pt idx="78">
                  <c:v>8.2399999999999997E-4</c:v>
                </c:pt>
                <c:pt idx="79">
                  <c:v>1.65E-4</c:v>
                </c:pt>
                <c:pt idx="80">
                  <c:v>8.2000000000000001E-5</c:v>
                </c:pt>
                <c:pt idx="81">
                  <c:v>2.019E-3</c:v>
                </c:pt>
                <c:pt idx="82">
                  <c:v>2.8800000000000001E-4</c:v>
                </c:pt>
                <c:pt idx="83">
                  <c:v>8.6499999999999999E-4</c:v>
                </c:pt>
                <c:pt idx="84">
                  <c:v>2.0599999999999999E-4</c:v>
                </c:pt>
                <c:pt idx="85">
                  <c:v>1.2400000000000001E-4</c:v>
                </c:pt>
                <c:pt idx="86">
                  <c:v>4.1199999999999999E-4</c:v>
                </c:pt>
                <c:pt idx="87">
                  <c:v>1.65E-4</c:v>
                </c:pt>
                <c:pt idx="88">
                  <c:v>2.4699999999999999E-4</c:v>
                </c:pt>
                <c:pt idx="89">
                  <c:v>1.5659999999999999E-3</c:v>
                </c:pt>
                <c:pt idx="90">
                  <c:v>1.65E-4</c:v>
                </c:pt>
                <c:pt idx="91">
                  <c:v>1.2400000000000001E-4</c:v>
                </c:pt>
                <c:pt idx="92">
                  <c:v>4.1E-5</c:v>
                </c:pt>
                <c:pt idx="93">
                  <c:v>4.1E-5</c:v>
                </c:pt>
                <c:pt idx="94">
                  <c:v>8.2299999999999995E-4</c:v>
                </c:pt>
                <c:pt idx="95">
                  <c:v>2.4699999999999999E-4</c:v>
                </c:pt>
                <c:pt idx="96">
                  <c:v>4.5300000000000001E-4</c:v>
                </c:pt>
                <c:pt idx="97">
                  <c:v>4.1E-5</c:v>
                </c:pt>
                <c:pt idx="98">
                  <c:v>4.1E-5</c:v>
                </c:pt>
                <c:pt idx="99">
                  <c:v>8.2999999999999998E-5</c:v>
                </c:pt>
                <c:pt idx="100">
                  <c:v>1.65E-4</c:v>
                </c:pt>
                <c:pt idx="101">
                  <c:v>1.65E-4</c:v>
                </c:pt>
                <c:pt idx="102">
                  <c:v>1.2400000000000001E-4</c:v>
                </c:pt>
                <c:pt idx="103">
                  <c:v>4.1E-5</c:v>
                </c:pt>
                <c:pt idx="104">
                  <c:v>4.1199999999999999E-4</c:v>
                </c:pt>
                <c:pt idx="105">
                  <c:v>4.1E-5</c:v>
                </c:pt>
                <c:pt idx="106">
                  <c:v>4.1E-5</c:v>
                </c:pt>
                <c:pt idx="107">
                  <c:v>4.1E-5</c:v>
                </c:pt>
                <c:pt idx="108">
                  <c:v>4.1E-5</c:v>
                </c:pt>
                <c:pt idx="109">
                  <c:v>8.2000000000000001E-5</c:v>
                </c:pt>
                <c:pt idx="110">
                  <c:v>1.2400000000000001E-4</c:v>
                </c:pt>
                <c:pt idx="111">
                  <c:v>4.1E-5</c:v>
                </c:pt>
                <c:pt idx="112">
                  <c:v>4.1E-5</c:v>
                </c:pt>
                <c:pt idx="113">
                  <c:v>4.1E-5</c:v>
                </c:pt>
              </c:numCache>
            </c:numRef>
          </c:val>
          <c:extLst>
            <c:ext xmlns:c16="http://schemas.microsoft.com/office/drawing/2014/chart" uri="{C3380CC4-5D6E-409C-BE32-E72D297353CC}">
              <c16:uniqueId val="{00000000-94CE-432C-BDE5-9BA968C85F09}"/>
            </c:ext>
          </c:extLst>
        </c:ser>
        <c:dLbls>
          <c:showLegendKey val="0"/>
          <c:showVal val="0"/>
          <c:showCatName val="0"/>
          <c:showSerName val="0"/>
          <c:showPercent val="0"/>
          <c:showBubbleSize val="0"/>
        </c:dLbls>
        <c:gapWidth val="219"/>
        <c:overlap val="-27"/>
        <c:axId val="612421007"/>
        <c:axId val="612415247"/>
      </c:barChart>
      <c:catAx>
        <c:axId val="612421007"/>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Rayons</a:t>
                </a:r>
                <a:r>
                  <a:rPr lang="en-US" sz="1200" baseline="0"/>
                  <a:t> (Districts)</a:t>
                </a:r>
                <a:endParaRPr lang="en-US" sz="120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415247"/>
        <c:crosses val="autoZero"/>
        <c:auto val="1"/>
        <c:lblAlgn val="ctr"/>
        <c:lblOffset val="100"/>
        <c:noMultiLvlLbl val="0"/>
      </c:catAx>
      <c:valAx>
        <c:axId val="612415247"/>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dirty="0"/>
                  <a:t>Probability of Strike Within</a:t>
                </a:r>
                <a:r>
                  <a:rPr lang="en-US" sz="1200" baseline="0" dirty="0"/>
                  <a:t> Rayon After 2000 Strikes</a:t>
                </a:r>
                <a:endParaRPr lang="en-US" sz="1200" dirty="0"/>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24210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b="0" i="0" u="none" strike="noStrike" kern="1200" spc="0" baseline="0" dirty="0">
                <a:solidFill>
                  <a:prstClr val="black">
                    <a:lumMod val="65000"/>
                    <a:lumOff val="35000"/>
                  </a:prstClr>
                </a:solidFill>
              </a:rPr>
              <a:t>Markov Projections for Infrastructure</a:t>
            </a:r>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0"/>
          <c:order val="0"/>
          <c:tx>
            <c:v>Warehouse</c:v>
          </c:tx>
          <c:spPr>
            <a:ln w="28575" cap="rnd">
              <a:solidFill>
                <a:schemeClr val="accent1"/>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all'!$C$3:$M$3</c:f>
              <c:numCache>
                <c:formatCode>General</c:formatCode>
                <c:ptCount val="11"/>
                <c:pt idx="0">
                  <c:v>1</c:v>
                </c:pt>
                <c:pt idx="1">
                  <c:v>3.4669999999999999E-2</c:v>
                </c:pt>
                <c:pt idx="2">
                  <c:v>3.4324E-2</c:v>
                </c:pt>
                <c:pt idx="3">
                  <c:v>3.4318000000000001E-2</c:v>
                </c:pt>
                <c:pt idx="4">
                  <c:v>3.4318000000000001E-2</c:v>
                </c:pt>
                <c:pt idx="5">
                  <c:v>3.4318000000000001E-2</c:v>
                </c:pt>
                <c:pt idx="6">
                  <c:v>3.4318000000000001E-2</c:v>
                </c:pt>
                <c:pt idx="7">
                  <c:v>3.4318000000000001E-2</c:v>
                </c:pt>
                <c:pt idx="8">
                  <c:v>3.4318000000000001E-2</c:v>
                </c:pt>
                <c:pt idx="9">
                  <c:v>3.4318000000000001E-2</c:v>
                </c:pt>
                <c:pt idx="10">
                  <c:v>3.4318000000000001E-2</c:v>
                </c:pt>
              </c:numCache>
            </c:numRef>
          </c:val>
          <c:smooth val="0"/>
          <c:extLst>
            <c:ext xmlns:c16="http://schemas.microsoft.com/office/drawing/2014/chart" uri="{C3380CC4-5D6E-409C-BE32-E72D297353CC}">
              <c16:uniqueId val="{00000000-7279-46B9-8EDF-CD52FFA85FDD}"/>
            </c:ext>
          </c:extLst>
        </c:ser>
        <c:ser>
          <c:idx val="1"/>
          <c:order val="1"/>
          <c:tx>
            <c:v>Aircraft Repair Plant</c:v>
          </c:tx>
          <c:spPr>
            <a:ln w="28575" cap="rnd">
              <a:solidFill>
                <a:schemeClr val="accent2"/>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all'!$C$4:$M$4</c:f>
              <c:numCache>
                <c:formatCode>General</c:formatCode>
                <c:ptCount val="11"/>
                <c:pt idx="0">
                  <c:v>0</c:v>
                </c:pt>
                <c:pt idx="1">
                  <c:v>1.35E-4</c:v>
                </c:pt>
                <c:pt idx="2">
                  <c:v>1.2400000000000001E-4</c:v>
                </c:pt>
                <c:pt idx="3">
                  <c:v>1.2400000000000001E-4</c:v>
                </c:pt>
                <c:pt idx="4">
                  <c:v>1.2400000000000001E-4</c:v>
                </c:pt>
                <c:pt idx="5">
                  <c:v>1.2400000000000001E-4</c:v>
                </c:pt>
                <c:pt idx="6">
                  <c:v>1.2400000000000001E-4</c:v>
                </c:pt>
                <c:pt idx="7">
                  <c:v>1.2400000000000001E-4</c:v>
                </c:pt>
                <c:pt idx="8">
                  <c:v>1.2400000000000001E-4</c:v>
                </c:pt>
                <c:pt idx="9">
                  <c:v>1.2400000000000001E-4</c:v>
                </c:pt>
                <c:pt idx="10">
                  <c:v>1.2400000000000001E-4</c:v>
                </c:pt>
              </c:numCache>
            </c:numRef>
          </c:val>
          <c:smooth val="0"/>
          <c:extLst>
            <c:ext xmlns:c16="http://schemas.microsoft.com/office/drawing/2014/chart" uri="{C3380CC4-5D6E-409C-BE32-E72D297353CC}">
              <c16:uniqueId val="{00000001-7279-46B9-8EDF-CD52FFA85FDD}"/>
            </c:ext>
          </c:extLst>
        </c:ser>
        <c:ser>
          <c:idx val="2"/>
          <c:order val="2"/>
          <c:tx>
            <c:v>Bridge</c:v>
          </c:tx>
          <c:spPr>
            <a:ln w="28575" cap="rnd">
              <a:solidFill>
                <a:schemeClr val="accent3"/>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all'!$C$5:$M$5</c:f>
              <c:numCache>
                <c:formatCode>General</c:formatCode>
                <c:ptCount val="11"/>
                <c:pt idx="0">
                  <c:v>0</c:v>
                </c:pt>
                <c:pt idx="1">
                  <c:v>6.0899999999999999E-3</c:v>
                </c:pt>
                <c:pt idx="2">
                  <c:v>6.0169999999999998E-3</c:v>
                </c:pt>
                <c:pt idx="3">
                  <c:v>6.0159999999999996E-3</c:v>
                </c:pt>
                <c:pt idx="4">
                  <c:v>6.0159999999999996E-3</c:v>
                </c:pt>
                <c:pt idx="5">
                  <c:v>6.0159999999999996E-3</c:v>
                </c:pt>
                <c:pt idx="6">
                  <c:v>6.0159999999999996E-3</c:v>
                </c:pt>
                <c:pt idx="7">
                  <c:v>6.0159999999999996E-3</c:v>
                </c:pt>
                <c:pt idx="8">
                  <c:v>6.0159999999999996E-3</c:v>
                </c:pt>
                <c:pt idx="9">
                  <c:v>6.0159999999999996E-3</c:v>
                </c:pt>
                <c:pt idx="10">
                  <c:v>6.0159999999999996E-3</c:v>
                </c:pt>
              </c:numCache>
            </c:numRef>
          </c:val>
          <c:smooth val="0"/>
          <c:extLst>
            <c:ext xmlns:c16="http://schemas.microsoft.com/office/drawing/2014/chart" uri="{C3380CC4-5D6E-409C-BE32-E72D297353CC}">
              <c16:uniqueId val="{00000002-7279-46B9-8EDF-CD52FFA85FDD}"/>
            </c:ext>
          </c:extLst>
        </c:ser>
        <c:ser>
          <c:idx val="3"/>
          <c:order val="3"/>
          <c:tx>
            <c:v>Oil Depot</c:v>
          </c:tx>
          <c:spPr>
            <a:ln w="28575" cap="rnd">
              <a:solidFill>
                <a:schemeClr val="accent4"/>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all'!$C$6:$M$6</c:f>
              <c:numCache>
                <c:formatCode>General</c:formatCode>
                <c:ptCount val="11"/>
                <c:pt idx="0">
                  <c:v>0</c:v>
                </c:pt>
                <c:pt idx="1">
                  <c:v>2.1150000000000001E-3</c:v>
                </c:pt>
                <c:pt idx="2">
                  <c:v>2.1020000000000001E-3</c:v>
                </c:pt>
                <c:pt idx="3">
                  <c:v>2.101E-3</c:v>
                </c:pt>
                <c:pt idx="4">
                  <c:v>2.101E-3</c:v>
                </c:pt>
                <c:pt idx="5">
                  <c:v>2.101E-3</c:v>
                </c:pt>
                <c:pt idx="6">
                  <c:v>2.101E-3</c:v>
                </c:pt>
                <c:pt idx="7">
                  <c:v>2.101E-3</c:v>
                </c:pt>
                <c:pt idx="8">
                  <c:v>2.101E-3</c:v>
                </c:pt>
                <c:pt idx="9">
                  <c:v>2.101E-3</c:v>
                </c:pt>
                <c:pt idx="10">
                  <c:v>2.101E-3</c:v>
                </c:pt>
              </c:numCache>
            </c:numRef>
          </c:val>
          <c:smooth val="0"/>
          <c:extLst>
            <c:ext xmlns:c16="http://schemas.microsoft.com/office/drawing/2014/chart" uri="{C3380CC4-5D6E-409C-BE32-E72D297353CC}">
              <c16:uniqueId val="{00000003-7279-46B9-8EDF-CD52FFA85FDD}"/>
            </c:ext>
          </c:extLst>
        </c:ser>
        <c:ser>
          <c:idx val="4"/>
          <c:order val="4"/>
          <c:tx>
            <c:v>Nuclear Unit</c:v>
          </c:tx>
          <c:spPr>
            <a:ln w="28575" cap="rnd">
              <a:solidFill>
                <a:schemeClr val="accent5"/>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all'!$C$7:$M$7</c:f>
              <c:numCache>
                <c:formatCode>General</c:formatCode>
                <c:ptCount val="11"/>
                <c:pt idx="0">
                  <c:v>0</c:v>
                </c:pt>
                <c:pt idx="1">
                  <c:v>2.9799999999999998E-4</c:v>
                </c:pt>
                <c:pt idx="2">
                  <c:v>2.8899999999999998E-4</c:v>
                </c:pt>
                <c:pt idx="3">
                  <c:v>2.8800000000000001E-4</c:v>
                </c:pt>
                <c:pt idx="4">
                  <c:v>2.8800000000000001E-4</c:v>
                </c:pt>
                <c:pt idx="5">
                  <c:v>2.8800000000000001E-4</c:v>
                </c:pt>
                <c:pt idx="6">
                  <c:v>2.8800000000000001E-4</c:v>
                </c:pt>
                <c:pt idx="7">
                  <c:v>2.8800000000000001E-4</c:v>
                </c:pt>
                <c:pt idx="8">
                  <c:v>2.8800000000000001E-4</c:v>
                </c:pt>
                <c:pt idx="9">
                  <c:v>2.8800000000000001E-4</c:v>
                </c:pt>
                <c:pt idx="10">
                  <c:v>2.8800000000000001E-4</c:v>
                </c:pt>
              </c:numCache>
            </c:numRef>
          </c:val>
          <c:smooth val="0"/>
          <c:extLst>
            <c:ext xmlns:c16="http://schemas.microsoft.com/office/drawing/2014/chart" uri="{C3380CC4-5D6E-409C-BE32-E72D297353CC}">
              <c16:uniqueId val="{00000004-7279-46B9-8EDF-CD52FFA85FDD}"/>
            </c:ext>
          </c:extLst>
        </c:ser>
        <c:ser>
          <c:idx val="5"/>
          <c:order val="5"/>
          <c:tx>
            <c:v>Health Facility</c:v>
          </c:tx>
          <c:spPr>
            <a:ln w="28575" cap="rnd">
              <a:solidFill>
                <a:schemeClr val="accent6"/>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all'!$C$8:$M$8</c:f>
              <c:numCache>
                <c:formatCode>General</c:formatCode>
                <c:ptCount val="11"/>
                <c:pt idx="0">
                  <c:v>0</c:v>
                </c:pt>
                <c:pt idx="1">
                  <c:v>4.8485E-2</c:v>
                </c:pt>
                <c:pt idx="2">
                  <c:v>4.8174000000000002E-2</c:v>
                </c:pt>
                <c:pt idx="3">
                  <c:v>4.8169999999999998E-2</c:v>
                </c:pt>
                <c:pt idx="4">
                  <c:v>4.8169999999999998E-2</c:v>
                </c:pt>
                <c:pt idx="5">
                  <c:v>4.8169999999999998E-2</c:v>
                </c:pt>
                <c:pt idx="6">
                  <c:v>4.8169999999999998E-2</c:v>
                </c:pt>
                <c:pt idx="7">
                  <c:v>4.8169999999999998E-2</c:v>
                </c:pt>
                <c:pt idx="8">
                  <c:v>4.8169999999999998E-2</c:v>
                </c:pt>
                <c:pt idx="9">
                  <c:v>4.8169999999999998E-2</c:v>
                </c:pt>
                <c:pt idx="10">
                  <c:v>4.8169999999999998E-2</c:v>
                </c:pt>
              </c:numCache>
            </c:numRef>
          </c:val>
          <c:smooth val="0"/>
          <c:extLst>
            <c:ext xmlns:c16="http://schemas.microsoft.com/office/drawing/2014/chart" uri="{C3380CC4-5D6E-409C-BE32-E72D297353CC}">
              <c16:uniqueId val="{00000005-7279-46B9-8EDF-CD52FFA85FDD}"/>
            </c:ext>
          </c:extLst>
        </c:ser>
        <c:ser>
          <c:idx val="6"/>
          <c:order val="6"/>
          <c:tx>
            <c:v>Government Facility</c:v>
          </c:tx>
          <c:spPr>
            <a:ln w="28575" cap="rnd">
              <a:solidFill>
                <a:schemeClr val="accent1">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all'!$C$9:$M$9</c:f>
              <c:numCache>
                <c:formatCode>General</c:formatCode>
                <c:ptCount val="11"/>
                <c:pt idx="0">
                  <c:v>0</c:v>
                </c:pt>
                <c:pt idx="1">
                  <c:v>8.5511000000000004E-2</c:v>
                </c:pt>
                <c:pt idx="2">
                  <c:v>8.4890999999999994E-2</c:v>
                </c:pt>
                <c:pt idx="3">
                  <c:v>8.4885000000000002E-2</c:v>
                </c:pt>
                <c:pt idx="4">
                  <c:v>8.4885000000000002E-2</c:v>
                </c:pt>
                <c:pt idx="5">
                  <c:v>8.4885000000000002E-2</c:v>
                </c:pt>
                <c:pt idx="6">
                  <c:v>8.4885000000000002E-2</c:v>
                </c:pt>
                <c:pt idx="7">
                  <c:v>8.4885000000000002E-2</c:v>
                </c:pt>
                <c:pt idx="8">
                  <c:v>8.4885000000000002E-2</c:v>
                </c:pt>
                <c:pt idx="9">
                  <c:v>8.4885000000000002E-2</c:v>
                </c:pt>
                <c:pt idx="10">
                  <c:v>8.4885000000000002E-2</c:v>
                </c:pt>
              </c:numCache>
            </c:numRef>
          </c:val>
          <c:smooth val="0"/>
          <c:extLst>
            <c:ext xmlns:c16="http://schemas.microsoft.com/office/drawing/2014/chart" uri="{C3380CC4-5D6E-409C-BE32-E72D297353CC}">
              <c16:uniqueId val="{00000006-7279-46B9-8EDF-CD52FFA85FDD}"/>
            </c:ext>
          </c:extLst>
        </c:ser>
        <c:ser>
          <c:idx val="7"/>
          <c:order val="7"/>
          <c:tx>
            <c:v>Fuel Depot</c:v>
          </c:tx>
          <c:spPr>
            <a:ln w="28575" cap="rnd">
              <a:solidFill>
                <a:schemeClr val="accent2">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all'!$C$10:$M$10</c:f>
              <c:numCache>
                <c:formatCode>General</c:formatCode>
                <c:ptCount val="11"/>
                <c:pt idx="0">
                  <c:v>0</c:v>
                </c:pt>
                <c:pt idx="1">
                  <c:v>8.4480000000000006E-3</c:v>
                </c:pt>
                <c:pt idx="2">
                  <c:v>8.3660000000000002E-3</c:v>
                </c:pt>
                <c:pt idx="3">
                  <c:v>8.3649999999999992E-3</c:v>
                </c:pt>
                <c:pt idx="4">
                  <c:v>8.3649999999999992E-3</c:v>
                </c:pt>
                <c:pt idx="5">
                  <c:v>8.3649999999999992E-3</c:v>
                </c:pt>
                <c:pt idx="6">
                  <c:v>8.3649999999999992E-3</c:v>
                </c:pt>
                <c:pt idx="7">
                  <c:v>8.3649999999999992E-3</c:v>
                </c:pt>
                <c:pt idx="8">
                  <c:v>8.3649999999999992E-3</c:v>
                </c:pt>
                <c:pt idx="9">
                  <c:v>8.3649999999999992E-3</c:v>
                </c:pt>
                <c:pt idx="10">
                  <c:v>8.3649999999999992E-3</c:v>
                </c:pt>
              </c:numCache>
            </c:numRef>
          </c:val>
          <c:smooth val="0"/>
          <c:extLst>
            <c:ext xmlns:c16="http://schemas.microsoft.com/office/drawing/2014/chart" uri="{C3380CC4-5D6E-409C-BE32-E72D297353CC}">
              <c16:uniqueId val="{00000007-7279-46B9-8EDF-CD52FFA85FDD}"/>
            </c:ext>
          </c:extLst>
        </c:ser>
        <c:ser>
          <c:idx val="8"/>
          <c:order val="8"/>
          <c:tx>
            <c:v>Education Facility</c:v>
          </c:tx>
          <c:spPr>
            <a:ln w="28575" cap="rnd">
              <a:solidFill>
                <a:schemeClr val="accent3">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all'!$C$11:$M$11</c:f>
              <c:numCache>
                <c:formatCode>General</c:formatCode>
                <c:ptCount val="11"/>
                <c:pt idx="0">
                  <c:v>0</c:v>
                </c:pt>
                <c:pt idx="1">
                  <c:v>0.202291</c:v>
                </c:pt>
                <c:pt idx="2">
                  <c:v>0.206733</c:v>
                </c:pt>
                <c:pt idx="3">
                  <c:v>0.206897</c:v>
                </c:pt>
                <c:pt idx="4">
                  <c:v>0.206897</c:v>
                </c:pt>
                <c:pt idx="5">
                  <c:v>0.206897</c:v>
                </c:pt>
                <c:pt idx="6">
                  <c:v>0.206897</c:v>
                </c:pt>
                <c:pt idx="7">
                  <c:v>0.206897</c:v>
                </c:pt>
                <c:pt idx="8">
                  <c:v>0.206897</c:v>
                </c:pt>
                <c:pt idx="9">
                  <c:v>0.206897</c:v>
                </c:pt>
                <c:pt idx="10">
                  <c:v>0.206897</c:v>
                </c:pt>
              </c:numCache>
            </c:numRef>
          </c:val>
          <c:smooth val="0"/>
          <c:extLst>
            <c:ext xmlns:c16="http://schemas.microsoft.com/office/drawing/2014/chart" uri="{C3380CC4-5D6E-409C-BE32-E72D297353CC}">
              <c16:uniqueId val="{00000008-7279-46B9-8EDF-CD52FFA85FDD}"/>
            </c:ext>
          </c:extLst>
        </c:ser>
        <c:ser>
          <c:idx val="9"/>
          <c:order val="9"/>
          <c:tx>
            <c:v>Gas Supply System</c:v>
          </c:tx>
          <c:spPr>
            <a:ln w="28575" cap="rnd">
              <a:solidFill>
                <a:schemeClr val="accent4">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all'!$C$12:$M$12</c:f>
              <c:numCache>
                <c:formatCode>General</c:formatCode>
                <c:ptCount val="11"/>
                <c:pt idx="0">
                  <c:v>0</c:v>
                </c:pt>
                <c:pt idx="1">
                  <c:v>8.1068000000000001E-2</c:v>
                </c:pt>
                <c:pt idx="2">
                  <c:v>8.1128000000000006E-2</c:v>
                </c:pt>
                <c:pt idx="3">
                  <c:v>8.1093999999999999E-2</c:v>
                </c:pt>
                <c:pt idx="4">
                  <c:v>8.1093999999999999E-2</c:v>
                </c:pt>
                <c:pt idx="5">
                  <c:v>8.1093999999999999E-2</c:v>
                </c:pt>
                <c:pt idx="6">
                  <c:v>8.1093999999999999E-2</c:v>
                </c:pt>
                <c:pt idx="7">
                  <c:v>8.1093999999999999E-2</c:v>
                </c:pt>
                <c:pt idx="8">
                  <c:v>8.1093999999999999E-2</c:v>
                </c:pt>
                <c:pt idx="9">
                  <c:v>8.1093999999999999E-2</c:v>
                </c:pt>
                <c:pt idx="10">
                  <c:v>8.1093999999999999E-2</c:v>
                </c:pt>
              </c:numCache>
            </c:numRef>
          </c:val>
          <c:smooth val="0"/>
          <c:extLst>
            <c:ext xmlns:c16="http://schemas.microsoft.com/office/drawing/2014/chart" uri="{C3380CC4-5D6E-409C-BE32-E72D297353CC}">
              <c16:uniqueId val="{00000009-7279-46B9-8EDF-CD52FFA85FDD}"/>
            </c:ext>
          </c:extLst>
        </c:ser>
        <c:ser>
          <c:idx val="10"/>
          <c:order val="10"/>
          <c:tx>
            <c:v>Religious Facility</c:v>
          </c:tx>
          <c:spPr>
            <a:ln w="28575" cap="rnd">
              <a:solidFill>
                <a:schemeClr val="accent5">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all'!$C$13:$M$13</c:f>
              <c:numCache>
                <c:formatCode>General</c:formatCode>
                <c:ptCount val="11"/>
                <c:pt idx="0">
                  <c:v>0</c:v>
                </c:pt>
                <c:pt idx="1">
                  <c:v>1.1476999999999999E-2</c:v>
                </c:pt>
                <c:pt idx="2">
                  <c:v>1.1414000000000001E-2</c:v>
                </c:pt>
                <c:pt idx="3">
                  <c:v>1.1414000000000001E-2</c:v>
                </c:pt>
                <c:pt idx="4">
                  <c:v>1.1414000000000001E-2</c:v>
                </c:pt>
                <c:pt idx="5">
                  <c:v>1.1414000000000001E-2</c:v>
                </c:pt>
                <c:pt idx="6">
                  <c:v>1.1414000000000001E-2</c:v>
                </c:pt>
                <c:pt idx="7">
                  <c:v>1.1414000000000001E-2</c:v>
                </c:pt>
                <c:pt idx="8">
                  <c:v>1.1414000000000001E-2</c:v>
                </c:pt>
                <c:pt idx="9">
                  <c:v>1.1414000000000001E-2</c:v>
                </c:pt>
                <c:pt idx="10">
                  <c:v>1.1414000000000001E-2</c:v>
                </c:pt>
              </c:numCache>
            </c:numRef>
          </c:val>
          <c:smooth val="0"/>
          <c:extLst>
            <c:ext xmlns:c16="http://schemas.microsoft.com/office/drawing/2014/chart" uri="{C3380CC4-5D6E-409C-BE32-E72D297353CC}">
              <c16:uniqueId val="{0000000A-7279-46B9-8EDF-CD52FFA85FDD}"/>
            </c:ext>
          </c:extLst>
        </c:ser>
        <c:ser>
          <c:idx val="11"/>
          <c:order val="11"/>
          <c:tx>
            <c:v>Telecommunications</c:v>
          </c:tx>
          <c:spPr>
            <a:ln w="28575" cap="rnd">
              <a:solidFill>
                <a:schemeClr val="accent6">
                  <a:lumMod val="6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all'!$C$14:$M$14</c:f>
              <c:numCache>
                <c:formatCode>General</c:formatCode>
                <c:ptCount val="11"/>
                <c:pt idx="0">
                  <c:v>0</c:v>
                </c:pt>
                <c:pt idx="1">
                  <c:v>7.0780000000000001E-3</c:v>
                </c:pt>
                <c:pt idx="2">
                  <c:v>7.0470000000000003E-3</c:v>
                </c:pt>
                <c:pt idx="3">
                  <c:v>7.0460000000000002E-3</c:v>
                </c:pt>
                <c:pt idx="4">
                  <c:v>7.0460000000000002E-3</c:v>
                </c:pt>
                <c:pt idx="5">
                  <c:v>7.0460000000000002E-3</c:v>
                </c:pt>
                <c:pt idx="6">
                  <c:v>7.0460000000000002E-3</c:v>
                </c:pt>
                <c:pt idx="7">
                  <c:v>7.0460000000000002E-3</c:v>
                </c:pt>
                <c:pt idx="8">
                  <c:v>7.0460000000000002E-3</c:v>
                </c:pt>
                <c:pt idx="9">
                  <c:v>7.0460000000000002E-3</c:v>
                </c:pt>
                <c:pt idx="10">
                  <c:v>7.0460000000000002E-3</c:v>
                </c:pt>
              </c:numCache>
            </c:numRef>
          </c:val>
          <c:smooth val="0"/>
          <c:extLst>
            <c:ext xmlns:c16="http://schemas.microsoft.com/office/drawing/2014/chart" uri="{C3380CC4-5D6E-409C-BE32-E72D297353CC}">
              <c16:uniqueId val="{0000000B-7279-46B9-8EDF-CD52FFA85FDD}"/>
            </c:ext>
          </c:extLst>
        </c:ser>
        <c:ser>
          <c:idx val="12"/>
          <c:order val="12"/>
          <c:tx>
            <c:v>Airport</c:v>
          </c:tx>
          <c:spPr>
            <a:ln w="28575" cap="rnd">
              <a:solidFill>
                <a:schemeClr val="accent1">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all'!$C$15:$M$15</c:f>
              <c:numCache>
                <c:formatCode>General</c:formatCode>
                <c:ptCount val="11"/>
                <c:pt idx="0">
                  <c:v>0</c:v>
                </c:pt>
                <c:pt idx="1">
                  <c:v>1.0349999999999999E-3</c:v>
                </c:pt>
                <c:pt idx="2">
                  <c:v>1.0300000000000001E-3</c:v>
                </c:pt>
                <c:pt idx="3">
                  <c:v>1.0300000000000001E-3</c:v>
                </c:pt>
                <c:pt idx="4">
                  <c:v>1.0300000000000001E-3</c:v>
                </c:pt>
                <c:pt idx="5">
                  <c:v>1.0300000000000001E-3</c:v>
                </c:pt>
                <c:pt idx="6">
                  <c:v>1.0300000000000001E-3</c:v>
                </c:pt>
                <c:pt idx="7">
                  <c:v>1.0300000000000001E-3</c:v>
                </c:pt>
                <c:pt idx="8">
                  <c:v>1.0300000000000001E-3</c:v>
                </c:pt>
                <c:pt idx="9">
                  <c:v>1.0300000000000001E-3</c:v>
                </c:pt>
                <c:pt idx="10">
                  <c:v>1.0300000000000001E-3</c:v>
                </c:pt>
              </c:numCache>
            </c:numRef>
          </c:val>
          <c:smooth val="0"/>
          <c:extLst>
            <c:ext xmlns:c16="http://schemas.microsoft.com/office/drawing/2014/chart" uri="{C3380CC4-5D6E-409C-BE32-E72D297353CC}">
              <c16:uniqueId val="{0000000C-7279-46B9-8EDF-CD52FFA85FDD}"/>
            </c:ext>
          </c:extLst>
        </c:ser>
        <c:ser>
          <c:idx val="13"/>
          <c:order val="13"/>
          <c:tx>
            <c:v>Power Plant</c:v>
          </c:tx>
          <c:spPr>
            <a:ln w="28575" cap="rnd">
              <a:solidFill>
                <a:schemeClr val="accent2">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all'!$C$16:$M$16</c:f>
              <c:numCache>
                <c:formatCode>General</c:formatCode>
                <c:ptCount val="11"/>
                <c:pt idx="0">
                  <c:v>0</c:v>
                </c:pt>
                <c:pt idx="1">
                  <c:v>3.0660000000000001E-3</c:v>
                </c:pt>
                <c:pt idx="2">
                  <c:v>3.0500000000000002E-3</c:v>
                </c:pt>
                <c:pt idx="3">
                  <c:v>3.0490000000000001E-3</c:v>
                </c:pt>
                <c:pt idx="4">
                  <c:v>3.0490000000000001E-3</c:v>
                </c:pt>
                <c:pt idx="5">
                  <c:v>3.0490000000000001E-3</c:v>
                </c:pt>
                <c:pt idx="6">
                  <c:v>3.0490000000000001E-3</c:v>
                </c:pt>
                <c:pt idx="7">
                  <c:v>3.0490000000000001E-3</c:v>
                </c:pt>
                <c:pt idx="8">
                  <c:v>3.0490000000000001E-3</c:v>
                </c:pt>
                <c:pt idx="9">
                  <c:v>3.0490000000000001E-3</c:v>
                </c:pt>
                <c:pt idx="10">
                  <c:v>3.0490000000000001E-3</c:v>
                </c:pt>
              </c:numCache>
            </c:numRef>
          </c:val>
          <c:smooth val="0"/>
          <c:extLst>
            <c:ext xmlns:c16="http://schemas.microsoft.com/office/drawing/2014/chart" uri="{C3380CC4-5D6E-409C-BE32-E72D297353CC}">
              <c16:uniqueId val="{0000000D-7279-46B9-8EDF-CD52FFA85FDD}"/>
            </c:ext>
          </c:extLst>
        </c:ser>
        <c:ser>
          <c:idx val="14"/>
          <c:order val="14"/>
          <c:tx>
            <c:v>Industrial/Business/Enterprise Facility</c:v>
          </c:tx>
          <c:spPr>
            <a:ln w="28575" cap="rnd">
              <a:solidFill>
                <a:schemeClr val="accent3">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all'!$C$17:$M$17</c:f>
              <c:numCache>
                <c:formatCode>General</c:formatCode>
                <c:ptCount val="11"/>
                <c:pt idx="0">
                  <c:v>0</c:v>
                </c:pt>
                <c:pt idx="1">
                  <c:v>0.210369</c:v>
                </c:pt>
                <c:pt idx="2">
                  <c:v>0.20837900000000001</c:v>
                </c:pt>
                <c:pt idx="3">
                  <c:v>0.20835100000000001</c:v>
                </c:pt>
                <c:pt idx="4">
                  <c:v>0.20835100000000001</c:v>
                </c:pt>
                <c:pt idx="5">
                  <c:v>0.20835100000000001</c:v>
                </c:pt>
                <c:pt idx="6">
                  <c:v>0.20835100000000001</c:v>
                </c:pt>
                <c:pt idx="7">
                  <c:v>0.20835100000000001</c:v>
                </c:pt>
                <c:pt idx="8">
                  <c:v>0.20835100000000001</c:v>
                </c:pt>
                <c:pt idx="9">
                  <c:v>0.20835100000000001</c:v>
                </c:pt>
                <c:pt idx="10">
                  <c:v>0.20835100000000001</c:v>
                </c:pt>
              </c:numCache>
            </c:numRef>
          </c:val>
          <c:smooth val="0"/>
          <c:extLst>
            <c:ext xmlns:c16="http://schemas.microsoft.com/office/drawing/2014/chart" uri="{C3380CC4-5D6E-409C-BE32-E72D297353CC}">
              <c16:uniqueId val="{0000000E-7279-46B9-8EDF-CD52FFA85FDD}"/>
            </c:ext>
          </c:extLst>
        </c:ser>
        <c:ser>
          <c:idx val="15"/>
          <c:order val="15"/>
          <c:tx>
            <c:v>Electricity Supply System</c:v>
          </c:tx>
          <c:spPr>
            <a:ln w="28575" cap="rnd">
              <a:solidFill>
                <a:schemeClr val="accent4">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all'!$C$18:$M$18</c:f>
              <c:numCache>
                <c:formatCode>General</c:formatCode>
                <c:ptCount val="11"/>
                <c:pt idx="0">
                  <c:v>0</c:v>
                </c:pt>
                <c:pt idx="1">
                  <c:v>0.124947</c:v>
                </c:pt>
                <c:pt idx="2">
                  <c:v>0.124319</c:v>
                </c:pt>
                <c:pt idx="3">
                  <c:v>0.124279</c:v>
                </c:pt>
                <c:pt idx="4">
                  <c:v>0.124279</c:v>
                </c:pt>
                <c:pt idx="5">
                  <c:v>0.124279</c:v>
                </c:pt>
                <c:pt idx="6">
                  <c:v>0.124279</c:v>
                </c:pt>
                <c:pt idx="7">
                  <c:v>0.124279</c:v>
                </c:pt>
                <c:pt idx="8">
                  <c:v>0.124279</c:v>
                </c:pt>
                <c:pt idx="9">
                  <c:v>0.124279</c:v>
                </c:pt>
                <c:pt idx="10">
                  <c:v>0.124279</c:v>
                </c:pt>
              </c:numCache>
            </c:numRef>
          </c:val>
          <c:smooth val="0"/>
          <c:extLst>
            <c:ext xmlns:c16="http://schemas.microsoft.com/office/drawing/2014/chart" uri="{C3380CC4-5D6E-409C-BE32-E72D297353CC}">
              <c16:uniqueId val="{0000000F-7279-46B9-8EDF-CD52FFA85FDD}"/>
            </c:ext>
          </c:extLst>
        </c:ser>
        <c:ser>
          <c:idx val="16"/>
          <c:order val="16"/>
          <c:tx>
            <c:v>Water Supply System</c:v>
          </c:tx>
          <c:spPr>
            <a:ln w="28575" cap="rnd">
              <a:solidFill>
                <a:schemeClr val="accent5">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all'!$C$19:$M$19</c:f>
              <c:numCache>
                <c:formatCode>General</c:formatCode>
                <c:ptCount val="11"/>
                <c:pt idx="0">
                  <c:v>0</c:v>
                </c:pt>
                <c:pt idx="1">
                  <c:v>1.1599999999999999E-2</c:v>
                </c:pt>
                <c:pt idx="2">
                  <c:v>1.1540999999999999E-2</c:v>
                </c:pt>
                <c:pt idx="3">
                  <c:v>1.1538E-2</c:v>
                </c:pt>
                <c:pt idx="4">
                  <c:v>1.1538E-2</c:v>
                </c:pt>
                <c:pt idx="5">
                  <c:v>1.1538E-2</c:v>
                </c:pt>
                <c:pt idx="6">
                  <c:v>1.1538E-2</c:v>
                </c:pt>
                <c:pt idx="7">
                  <c:v>1.1538E-2</c:v>
                </c:pt>
                <c:pt idx="8">
                  <c:v>1.1538E-2</c:v>
                </c:pt>
                <c:pt idx="9">
                  <c:v>1.1538E-2</c:v>
                </c:pt>
                <c:pt idx="10">
                  <c:v>1.1538E-2</c:v>
                </c:pt>
              </c:numCache>
            </c:numRef>
          </c:val>
          <c:smooth val="0"/>
          <c:extLst>
            <c:ext xmlns:c16="http://schemas.microsoft.com/office/drawing/2014/chart" uri="{C3380CC4-5D6E-409C-BE32-E72D297353CC}">
              <c16:uniqueId val="{00000010-7279-46B9-8EDF-CD52FFA85FDD}"/>
            </c:ext>
          </c:extLst>
        </c:ser>
        <c:ser>
          <c:idx val="17"/>
          <c:order val="17"/>
          <c:tx>
            <c:v>Chemical Storage Unit</c:v>
          </c:tx>
          <c:spPr>
            <a:ln w="28575" cap="rnd">
              <a:solidFill>
                <a:schemeClr val="accent6">
                  <a:lumMod val="80000"/>
                  <a:lumOff val="2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all'!$C$20:$M$20</c:f>
              <c:numCache>
                <c:formatCode>General</c:formatCode>
                <c:ptCount val="11"/>
                <c:pt idx="0">
                  <c:v>0</c:v>
                </c:pt>
                <c:pt idx="1">
                  <c:v>2.4840000000000001E-3</c:v>
                </c:pt>
                <c:pt idx="2">
                  <c:v>2.2049999999999999E-3</c:v>
                </c:pt>
                <c:pt idx="3">
                  <c:v>2.1840000000000002E-3</c:v>
                </c:pt>
                <c:pt idx="4">
                  <c:v>2.1840000000000002E-3</c:v>
                </c:pt>
                <c:pt idx="5">
                  <c:v>2.1840000000000002E-3</c:v>
                </c:pt>
                <c:pt idx="6">
                  <c:v>2.1840000000000002E-3</c:v>
                </c:pt>
                <c:pt idx="7">
                  <c:v>2.1840000000000002E-3</c:v>
                </c:pt>
                <c:pt idx="8">
                  <c:v>2.1840000000000002E-3</c:v>
                </c:pt>
                <c:pt idx="9">
                  <c:v>2.1840000000000002E-3</c:v>
                </c:pt>
                <c:pt idx="10">
                  <c:v>2.1840000000000002E-3</c:v>
                </c:pt>
              </c:numCache>
            </c:numRef>
          </c:val>
          <c:smooth val="0"/>
          <c:extLst>
            <c:ext xmlns:c16="http://schemas.microsoft.com/office/drawing/2014/chart" uri="{C3380CC4-5D6E-409C-BE32-E72D297353CC}">
              <c16:uniqueId val="{00000011-7279-46B9-8EDF-CD52FFA85FDD}"/>
            </c:ext>
          </c:extLst>
        </c:ser>
        <c:ser>
          <c:idx val="18"/>
          <c:order val="18"/>
          <c:tx>
            <c:v>Heating and Water Facility</c:v>
          </c:tx>
          <c:spPr>
            <a:ln w="28575" cap="rnd">
              <a:solidFill>
                <a:schemeClr val="accent1">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all'!$C$21:$M$21</c:f>
              <c:numCache>
                <c:formatCode>General</c:formatCode>
                <c:ptCount val="11"/>
                <c:pt idx="0">
                  <c:v>0</c:v>
                </c:pt>
                <c:pt idx="1">
                  <c:v>9.9600000000000001E-3</c:v>
                </c:pt>
                <c:pt idx="2">
                  <c:v>1.0055E-2</c:v>
                </c:pt>
                <c:pt idx="3">
                  <c:v>1.0055E-2</c:v>
                </c:pt>
                <c:pt idx="4">
                  <c:v>1.0055E-2</c:v>
                </c:pt>
                <c:pt idx="5">
                  <c:v>1.0055E-2</c:v>
                </c:pt>
                <c:pt idx="6">
                  <c:v>1.0055E-2</c:v>
                </c:pt>
                <c:pt idx="7">
                  <c:v>1.0055E-2</c:v>
                </c:pt>
                <c:pt idx="8">
                  <c:v>1.0055E-2</c:v>
                </c:pt>
                <c:pt idx="9">
                  <c:v>1.0055E-2</c:v>
                </c:pt>
                <c:pt idx="10">
                  <c:v>1.0055E-2</c:v>
                </c:pt>
              </c:numCache>
            </c:numRef>
          </c:val>
          <c:smooth val="0"/>
          <c:extLst>
            <c:ext xmlns:c16="http://schemas.microsoft.com/office/drawing/2014/chart" uri="{C3380CC4-5D6E-409C-BE32-E72D297353CC}">
              <c16:uniqueId val="{00000012-7279-46B9-8EDF-CD52FFA85FDD}"/>
            </c:ext>
          </c:extLst>
        </c:ser>
        <c:ser>
          <c:idx val="19"/>
          <c:order val="19"/>
          <c:tx>
            <c:v>Railway</c:v>
          </c:tx>
          <c:spPr>
            <a:ln w="28575" cap="rnd">
              <a:solidFill>
                <a:schemeClr val="accent2">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all'!$C$22:$M$22</c:f>
              <c:numCache>
                <c:formatCode>General</c:formatCode>
                <c:ptCount val="11"/>
                <c:pt idx="0">
                  <c:v>0</c:v>
                </c:pt>
                <c:pt idx="1">
                  <c:v>2.2846999999999999E-2</c:v>
                </c:pt>
                <c:pt idx="2">
                  <c:v>2.2917E-2</c:v>
                </c:pt>
                <c:pt idx="3">
                  <c:v>2.2911000000000001E-2</c:v>
                </c:pt>
                <c:pt idx="4">
                  <c:v>2.2911000000000001E-2</c:v>
                </c:pt>
                <c:pt idx="5">
                  <c:v>2.2911000000000001E-2</c:v>
                </c:pt>
                <c:pt idx="6">
                  <c:v>2.2911000000000001E-2</c:v>
                </c:pt>
                <c:pt idx="7">
                  <c:v>2.2911000000000001E-2</c:v>
                </c:pt>
                <c:pt idx="8">
                  <c:v>2.2911000000000001E-2</c:v>
                </c:pt>
                <c:pt idx="9">
                  <c:v>2.2911000000000001E-2</c:v>
                </c:pt>
                <c:pt idx="10">
                  <c:v>2.2911000000000001E-2</c:v>
                </c:pt>
              </c:numCache>
            </c:numRef>
          </c:val>
          <c:smooth val="0"/>
          <c:extLst>
            <c:ext xmlns:c16="http://schemas.microsoft.com/office/drawing/2014/chart" uri="{C3380CC4-5D6E-409C-BE32-E72D297353CC}">
              <c16:uniqueId val="{00000013-7279-46B9-8EDF-CD52FFA85FDD}"/>
            </c:ext>
          </c:extLst>
        </c:ser>
        <c:ser>
          <c:idx val="20"/>
          <c:order val="20"/>
          <c:tx>
            <c:v>Cultural Facility</c:v>
          </c:tx>
          <c:spPr>
            <a:ln w="28575" cap="rnd">
              <a:solidFill>
                <a:schemeClr val="accent3">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all'!$C$23:$M$23</c:f>
              <c:numCache>
                <c:formatCode>General</c:formatCode>
                <c:ptCount val="11"/>
                <c:pt idx="0">
                  <c:v>0</c:v>
                </c:pt>
                <c:pt idx="1">
                  <c:v>4.9327000000000003E-2</c:v>
                </c:pt>
                <c:pt idx="2">
                  <c:v>4.9854000000000002E-2</c:v>
                </c:pt>
                <c:pt idx="3">
                  <c:v>4.9861000000000003E-2</c:v>
                </c:pt>
                <c:pt idx="4">
                  <c:v>4.9861000000000003E-2</c:v>
                </c:pt>
                <c:pt idx="5">
                  <c:v>4.9861000000000003E-2</c:v>
                </c:pt>
                <c:pt idx="6">
                  <c:v>4.9861000000000003E-2</c:v>
                </c:pt>
                <c:pt idx="7">
                  <c:v>4.9861000000000003E-2</c:v>
                </c:pt>
                <c:pt idx="8">
                  <c:v>4.9861000000000003E-2</c:v>
                </c:pt>
                <c:pt idx="9">
                  <c:v>4.9861000000000003E-2</c:v>
                </c:pt>
                <c:pt idx="10">
                  <c:v>4.9861000000000003E-2</c:v>
                </c:pt>
              </c:numCache>
            </c:numRef>
          </c:val>
          <c:smooth val="0"/>
          <c:extLst>
            <c:ext xmlns:c16="http://schemas.microsoft.com/office/drawing/2014/chart" uri="{C3380CC4-5D6E-409C-BE32-E72D297353CC}">
              <c16:uniqueId val="{00000014-7279-46B9-8EDF-CD52FFA85FDD}"/>
            </c:ext>
          </c:extLst>
        </c:ser>
        <c:ser>
          <c:idx val="21"/>
          <c:order val="21"/>
          <c:tx>
            <c:v>Other</c:v>
          </c:tx>
          <c:spPr>
            <a:ln w="28575" cap="rnd">
              <a:solidFill>
                <a:schemeClr val="accent4">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all'!$C$24:$M$24</c:f>
              <c:numCache>
                <c:formatCode>General</c:formatCode>
                <c:ptCount val="11"/>
                <c:pt idx="0">
                  <c:v>0</c:v>
                </c:pt>
                <c:pt idx="1">
                  <c:v>3.0105E-2</c:v>
                </c:pt>
                <c:pt idx="2">
                  <c:v>2.9840999999999999E-2</c:v>
                </c:pt>
                <c:pt idx="3">
                  <c:v>2.9832999999999998E-2</c:v>
                </c:pt>
                <c:pt idx="4">
                  <c:v>2.9832999999999998E-2</c:v>
                </c:pt>
                <c:pt idx="5">
                  <c:v>2.9832999999999998E-2</c:v>
                </c:pt>
                <c:pt idx="6">
                  <c:v>2.9832999999999998E-2</c:v>
                </c:pt>
                <c:pt idx="7">
                  <c:v>2.9832999999999998E-2</c:v>
                </c:pt>
                <c:pt idx="8">
                  <c:v>2.9832999999999998E-2</c:v>
                </c:pt>
                <c:pt idx="9">
                  <c:v>2.9832999999999998E-2</c:v>
                </c:pt>
                <c:pt idx="10">
                  <c:v>2.9832999999999998E-2</c:v>
                </c:pt>
              </c:numCache>
            </c:numRef>
          </c:val>
          <c:smooth val="0"/>
          <c:extLst>
            <c:ext xmlns:c16="http://schemas.microsoft.com/office/drawing/2014/chart" uri="{C3380CC4-5D6E-409C-BE32-E72D297353CC}">
              <c16:uniqueId val="{00000015-7279-46B9-8EDF-CD52FFA85FDD}"/>
            </c:ext>
          </c:extLst>
        </c:ser>
        <c:ser>
          <c:idx val="22"/>
          <c:order val="22"/>
          <c:tx>
            <c:v>Unknown</c:v>
          </c:tx>
          <c:spPr>
            <a:ln w="28575" cap="rnd">
              <a:solidFill>
                <a:schemeClr val="accent5">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all'!$C$25:$M$25</c:f>
              <c:numCache>
                <c:formatCode>General</c:formatCode>
                <c:ptCount val="11"/>
                <c:pt idx="0">
                  <c:v>0</c:v>
                </c:pt>
                <c:pt idx="1">
                  <c:v>1.65E-4</c:v>
                </c:pt>
                <c:pt idx="2">
                  <c:v>1.65E-4</c:v>
                </c:pt>
                <c:pt idx="3">
                  <c:v>1.65E-4</c:v>
                </c:pt>
                <c:pt idx="4">
                  <c:v>1.65E-4</c:v>
                </c:pt>
                <c:pt idx="5">
                  <c:v>1.65E-4</c:v>
                </c:pt>
                <c:pt idx="6">
                  <c:v>1.65E-4</c:v>
                </c:pt>
                <c:pt idx="7">
                  <c:v>1.65E-4</c:v>
                </c:pt>
                <c:pt idx="8">
                  <c:v>1.65E-4</c:v>
                </c:pt>
                <c:pt idx="9">
                  <c:v>1.65E-4</c:v>
                </c:pt>
                <c:pt idx="10">
                  <c:v>1.65E-4</c:v>
                </c:pt>
              </c:numCache>
            </c:numRef>
          </c:val>
          <c:smooth val="0"/>
          <c:extLst>
            <c:ext xmlns:c16="http://schemas.microsoft.com/office/drawing/2014/chart" uri="{C3380CC4-5D6E-409C-BE32-E72D297353CC}">
              <c16:uniqueId val="{00000016-7279-46B9-8EDF-CD52FFA85FDD}"/>
            </c:ext>
          </c:extLst>
        </c:ser>
        <c:ser>
          <c:idx val="23"/>
          <c:order val="23"/>
          <c:tx>
            <c:v>Road/Highway</c:v>
          </c:tx>
          <c:spPr>
            <a:ln w="28575" cap="rnd">
              <a:solidFill>
                <a:schemeClr val="accent6">
                  <a:lumMod val="8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all'!$C$26:$M$26</c:f>
              <c:numCache>
                <c:formatCode>General</c:formatCode>
                <c:ptCount val="11"/>
                <c:pt idx="0">
                  <c:v>0</c:v>
                </c:pt>
                <c:pt idx="1">
                  <c:v>1.0189999999999999E-2</c:v>
                </c:pt>
                <c:pt idx="2">
                  <c:v>1.0097E-2</c:v>
                </c:pt>
                <c:pt idx="3">
                  <c:v>1.0096000000000001E-2</c:v>
                </c:pt>
                <c:pt idx="4">
                  <c:v>1.0096000000000001E-2</c:v>
                </c:pt>
                <c:pt idx="5">
                  <c:v>1.0096000000000001E-2</c:v>
                </c:pt>
                <c:pt idx="6">
                  <c:v>1.0096000000000001E-2</c:v>
                </c:pt>
                <c:pt idx="7">
                  <c:v>1.0096000000000001E-2</c:v>
                </c:pt>
                <c:pt idx="8">
                  <c:v>1.0096000000000001E-2</c:v>
                </c:pt>
                <c:pt idx="9">
                  <c:v>1.0096000000000001E-2</c:v>
                </c:pt>
                <c:pt idx="10">
                  <c:v>1.0096000000000001E-2</c:v>
                </c:pt>
              </c:numCache>
            </c:numRef>
          </c:val>
          <c:smooth val="0"/>
          <c:extLst>
            <c:ext xmlns:c16="http://schemas.microsoft.com/office/drawing/2014/chart" uri="{C3380CC4-5D6E-409C-BE32-E72D297353CC}">
              <c16:uniqueId val="{00000017-7279-46B9-8EDF-CD52FFA85FDD}"/>
            </c:ext>
          </c:extLst>
        </c:ser>
        <c:ser>
          <c:idx val="24"/>
          <c:order val="24"/>
          <c:tx>
            <c:v>Agricultural Facility</c:v>
          </c:tx>
          <c:spPr>
            <a:ln w="28575" cap="rnd">
              <a:solidFill>
                <a:schemeClr val="accent1">
                  <a:lumMod val="60000"/>
                  <a:lumOff val="40000"/>
                </a:schemeClr>
              </a:solidFill>
              <a:round/>
            </a:ln>
            <a:effectLst/>
          </c:spPr>
          <c:marker>
            <c:symbol val="none"/>
          </c:marker>
          <c:cat>
            <c:numRef>
              <c:f>'infra, all'!$C$29:$M$29</c:f>
              <c:numCache>
                <c:formatCode>General</c:formatCode>
                <c:ptCount val="11"/>
                <c:pt idx="0">
                  <c:v>0</c:v>
                </c:pt>
                <c:pt idx="1">
                  <c:v>5</c:v>
                </c:pt>
                <c:pt idx="2">
                  <c:v>10</c:v>
                </c:pt>
                <c:pt idx="3">
                  <c:v>25</c:v>
                </c:pt>
                <c:pt idx="4">
                  <c:v>50</c:v>
                </c:pt>
                <c:pt idx="5">
                  <c:v>100</c:v>
                </c:pt>
                <c:pt idx="6">
                  <c:v>250</c:v>
                </c:pt>
                <c:pt idx="7">
                  <c:v>500</c:v>
                </c:pt>
                <c:pt idx="8">
                  <c:v>750</c:v>
                </c:pt>
                <c:pt idx="9">
                  <c:v>1000</c:v>
                </c:pt>
                <c:pt idx="10">
                  <c:v>2000</c:v>
                </c:pt>
              </c:numCache>
            </c:numRef>
          </c:cat>
          <c:val>
            <c:numRef>
              <c:f>'infra, all'!$C$28:$M$28</c:f>
              <c:numCache>
                <c:formatCode>General</c:formatCode>
                <c:ptCount val="11"/>
                <c:pt idx="0">
                  <c:v>0</c:v>
                </c:pt>
                <c:pt idx="1">
                  <c:v>3.3445999999999997E-2</c:v>
                </c:pt>
                <c:pt idx="2">
                  <c:v>3.3175000000000003E-2</c:v>
                </c:pt>
                <c:pt idx="3">
                  <c:v>3.3170999999999999E-2</c:v>
                </c:pt>
                <c:pt idx="4">
                  <c:v>3.3170999999999999E-2</c:v>
                </c:pt>
                <c:pt idx="5">
                  <c:v>3.3170999999999999E-2</c:v>
                </c:pt>
                <c:pt idx="6">
                  <c:v>3.3170999999999999E-2</c:v>
                </c:pt>
                <c:pt idx="7">
                  <c:v>3.3170999999999999E-2</c:v>
                </c:pt>
                <c:pt idx="8">
                  <c:v>3.3170999999999999E-2</c:v>
                </c:pt>
                <c:pt idx="9">
                  <c:v>3.3170999999999999E-2</c:v>
                </c:pt>
                <c:pt idx="10">
                  <c:v>3.3170999999999999E-2</c:v>
                </c:pt>
              </c:numCache>
            </c:numRef>
          </c:val>
          <c:smooth val="0"/>
          <c:extLst>
            <c:ext xmlns:c16="http://schemas.microsoft.com/office/drawing/2014/chart" uri="{C3380CC4-5D6E-409C-BE32-E72D297353CC}">
              <c16:uniqueId val="{00000018-7279-46B9-8EDF-CD52FFA85FDD}"/>
            </c:ext>
          </c:extLst>
        </c:ser>
        <c:dLbls>
          <c:showLegendKey val="0"/>
          <c:showVal val="0"/>
          <c:showCatName val="0"/>
          <c:showSerName val="0"/>
          <c:showPercent val="0"/>
          <c:showBubbleSize val="0"/>
        </c:dLbls>
        <c:smooth val="0"/>
        <c:axId val="419005071"/>
        <c:axId val="419000751"/>
      </c:lineChart>
      <c:catAx>
        <c:axId val="419005071"/>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After n Strikes</a:t>
                </a:r>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9000751"/>
        <c:crosses val="autoZero"/>
        <c:auto val="1"/>
        <c:lblAlgn val="ctr"/>
        <c:lblOffset val="100"/>
        <c:noMultiLvlLbl val="0"/>
      </c:catAx>
      <c:valAx>
        <c:axId val="419000751"/>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Probability</a:t>
                </a:r>
                <a:r>
                  <a:rPr lang="en-US" sz="1200" baseline="0"/>
                  <a:t> of Strike Agaisnt End State</a:t>
                </a:r>
                <a:endParaRPr lang="en-US" sz="1200"/>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19005071"/>
        <c:crosses val="autoZero"/>
        <c:crossBetween val="between"/>
        <c:majorUnit val="0.2"/>
      </c:valAx>
      <c:spPr>
        <a:noFill/>
        <a:ln>
          <a:noFill/>
        </a:ln>
        <a:effectLst/>
      </c:spPr>
    </c:plotArea>
    <c:legend>
      <c:legendPos val="r"/>
      <c:layout>
        <c:manualLayout>
          <c:xMode val="edge"/>
          <c:yMode val="edge"/>
          <c:x val="0.76608622254006953"/>
          <c:y val="2.6389577180574421E-2"/>
          <c:w val="0.22381703677216436"/>
          <c:h val="0.9570681668497407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r>
              <a:rPr lang="en-US" sz="1800" dirty="0"/>
              <a:t>Markov</a:t>
            </a:r>
            <a:r>
              <a:rPr lang="en-US" sz="1800" baseline="0" dirty="0"/>
              <a:t> Projections for "Collapsed" Infrastructure</a:t>
            </a:r>
            <a:endParaRPr lang="en-US" sz="1800" dirty="0"/>
          </a:p>
        </c:rich>
      </c:tx>
      <c:overlay val="0"/>
      <c:spPr>
        <a:noFill/>
        <a:ln>
          <a:noFill/>
        </a:ln>
        <a:effectLst/>
      </c:spPr>
      <c:txPr>
        <a:bodyPr rot="0" spcFirstLastPara="1" vertOverflow="ellipsis" vert="horz" wrap="square" anchor="ctr" anchorCtr="1"/>
        <a:lstStyle/>
        <a:p>
          <a:pPr>
            <a:defRPr sz="18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lineChart>
        <c:grouping val="standard"/>
        <c:varyColors val="0"/>
        <c:ser>
          <c:idx val="1"/>
          <c:order val="0"/>
          <c:tx>
            <c:strRef>
              <c:f>'infra, collapsed'!$B$4</c:f>
              <c:strCache>
                <c:ptCount val="1"/>
                <c:pt idx="0">
                  <c:v>Business</c:v>
                </c:pt>
              </c:strCache>
            </c:strRef>
          </c:tx>
          <c:spPr>
            <a:ln w="28575" cap="rnd">
              <a:solidFill>
                <a:schemeClr val="accent2"/>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collapsed'!$C$4:$M$4</c:f>
              <c:numCache>
                <c:formatCode>General</c:formatCode>
                <c:ptCount val="11"/>
                <c:pt idx="0">
                  <c:v>1</c:v>
                </c:pt>
                <c:pt idx="1">
                  <c:v>0.24434700000000001</c:v>
                </c:pt>
                <c:pt idx="2">
                  <c:v>0.242673</c:v>
                </c:pt>
                <c:pt idx="3">
                  <c:v>0.24266499999999999</c:v>
                </c:pt>
                <c:pt idx="4">
                  <c:v>0.24266499999999999</c:v>
                </c:pt>
                <c:pt idx="5">
                  <c:v>0.24266499999999999</c:v>
                </c:pt>
                <c:pt idx="6">
                  <c:v>0.24266499999999999</c:v>
                </c:pt>
                <c:pt idx="7">
                  <c:v>0.24266499999999999</c:v>
                </c:pt>
                <c:pt idx="8">
                  <c:v>0.24266499999999999</c:v>
                </c:pt>
                <c:pt idx="9">
                  <c:v>0.24266499999999999</c:v>
                </c:pt>
                <c:pt idx="10">
                  <c:v>0.24266499999999999</c:v>
                </c:pt>
              </c:numCache>
            </c:numRef>
          </c:val>
          <c:smooth val="0"/>
          <c:extLst>
            <c:ext xmlns:c16="http://schemas.microsoft.com/office/drawing/2014/chart" uri="{C3380CC4-5D6E-409C-BE32-E72D297353CC}">
              <c16:uniqueId val="{00000000-68C0-42BD-BD69-3E043EA61EB3}"/>
            </c:ext>
          </c:extLst>
        </c:ser>
        <c:ser>
          <c:idx val="0"/>
          <c:order val="1"/>
          <c:tx>
            <c:strRef>
              <c:f>'infra, collapsed'!$B$5</c:f>
              <c:strCache>
                <c:ptCount val="1"/>
                <c:pt idx="0">
                  <c:v>Transportation</c:v>
                </c:pt>
              </c:strCache>
            </c:strRef>
          </c:tx>
          <c:spPr>
            <a:ln w="28575" cap="rnd">
              <a:solidFill>
                <a:schemeClr val="accent1"/>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collapsed'!$C$5:$M$5</c:f>
              <c:numCache>
                <c:formatCode>General</c:formatCode>
                <c:ptCount val="11"/>
                <c:pt idx="0">
                  <c:v>0</c:v>
                </c:pt>
                <c:pt idx="1">
                  <c:v>4.3263999999999997E-2</c:v>
                </c:pt>
                <c:pt idx="2">
                  <c:v>4.2942000000000001E-2</c:v>
                </c:pt>
                <c:pt idx="3">
                  <c:v>4.2937000000000003E-2</c:v>
                </c:pt>
                <c:pt idx="4">
                  <c:v>4.2937000000000003E-2</c:v>
                </c:pt>
                <c:pt idx="5">
                  <c:v>4.2937000000000003E-2</c:v>
                </c:pt>
                <c:pt idx="6">
                  <c:v>4.2937000000000003E-2</c:v>
                </c:pt>
                <c:pt idx="7">
                  <c:v>4.2937000000000003E-2</c:v>
                </c:pt>
                <c:pt idx="8">
                  <c:v>4.2937000000000003E-2</c:v>
                </c:pt>
                <c:pt idx="9">
                  <c:v>4.2937000000000003E-2</c:v>
                </c:pt>
                <c:pt idx="10">
                  <c:v>4.2937000000000003E-2</c:v>
                </c:pt>
              </c:numCache>
            </c:numRef>
          </c:val>
          <c:smooth val="0"/>
          <c:extLst>
            <c:ext xmlns:c16="http://schemas.microsoft.com/office/drawing/2014/chart" uri="{C3380CC4-5D6E-409C-BE32-E72D297353CC}">
              <c16:uniqueId val="{00000001-68C0-42BD-BD69-3E043EA61EB3}"/>
            </c:ext>
          </c:extLst>
        </c:ser>
        <c:ser>
          <c:idx val="2"/>
          <c:order val="2"/>
          <c:tx>
            <c:strRef>
              <c:f>'infra, collapsed'!$B$6</c:f>
              <c:strCache>
                <c:ptCount val="1"/>
                <c:pt idx="0">
                  <c:v>Power &amp; Fuel</c:v>
                </c:pt>
              </c:strCache>
            </c:strRef>
          </c:tx>
          <c:spPr>
            <a:ln w="28575" cap="rnd">
              <a:solidFill>
                <a:schemeClr val="accent3"/>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collapsed'!$C$6:$M$6</c:f>
              <c:numCache>
                <c:formatCode>General</c:formatCode>
                <c:ptCount val="11"/>
                <c:pt idx="0">
                  <c:v>0</c:v>
                </c:pt>
                <c:pt idx="1">
                  <c:v>0.21944</c:v>
                </c:pt>
                <c:pt idx="2">
                  <c:v>0.21920000000000001</c:v>
                </c:pt>
                <c:pt idx="3">
                  <c:v>0.21917800000000001</c:v>
                </c:pt>
                <c:pt idx="4">
                  <c:v>0.21917800000000001</c:v>
                </c:pt>
                <c:pt idx="5">
                  <c:v>0.21917800000000001</c:v>
                </c:pt>
                <c:pt idx="6">
                  <c:v>0.21917800000000001</c:v>
                </c:pt>
                <c:pt idx="7">
                  <c:v>0.21917800000000001</c:v>
                </c:pt>
                <c:pt idx="8">
                  <c:v>0.21917800000000001</c:v>
                </c:pt>
                <c:pt idx="9">
                  <c:v>0.21917800000000001</c:v>
                </c:pt>
                <c:pt idx="10">
                  <c:v>0.21917800000000001</c:v>
                </c:pt>
              </c:numCache>
            </c:numRef>
          </c:val>
          <c:smooth val="0"/>
          <c:extLst>
            <c:ext xmlns:c16="http://schemas.microsoft.com/office/drawing/2014/chart" uri="{C3380CC4-5D6E-409C-BE32-E72D297353CC}">
              <c16:uniqueId val="{00000002-68C0-42BD-BD69-3E043EA61EB3}"/>
            </c:ext>
          </c:extLst>
        </c:ser>
        <c:ser>
          <c:idx val="3"/>
          <c:order val="3"/>
          <c:tx>
            <c:strRef>
              <c:f>'infra, collapsed'!$B$7</c:f>
              <c:strCache>
                <c:ptCount val="1"/>
                <c:pt idx="0">
                  <c:v>Civilian</c:v>
                </c:pt>
              </c:strCache>
            </c:strRef>
          </c:tx>
          <c:spPr>
            <a:ln w="28575" cap="rnd">
              <a:solidFill>
                <a:schemeClr val="accent4"/>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collapsed'!$C$7:$M$7</c:f>
              <c:numCache>
                <c:formatCode>General</c:formatCode>
                <c:ptCount val="11"/>
                <c:pt idx="0">
                  <c:v>0</c:v>
                </c:pt>
                <c:pt idx="1">
                  <c:v>0.320494</c:v>
                </c:pt>
                <c:pt idx="2">
                  <c:v>0.32335000000000003</c:v>
                </c:pt>
                <c:pt idx="3">
                  <c:v>0.32338800000000001</c:v>
                </c:pt>
                <c:pt idx="4">
                  <c:v>0.32338899999999998</c:v>
                </c:pt>
                <c:pt idx="5">
                  <c:v>0.32338899999999998</c:v>
                </c:pt>
                <c:pt idx="6">
                  <c:v>0.32338899999999998</c:v>
                </c:pt>
                <c:pt idx="7">
                  <c:v>0.32338899999999998</c:v>
                </c:pt>
                <c:pt idx="8">
                  <c:v>0.32338899999999998</c:v>
                </c:pt>
                <c:pt idx="9">
                  <c:v>0.32338899999999998</c:v>
                </c:pt>
                <c:pt idx="10">
                  <c:v>0.32338899999999998</c:v>
                </c:pt>
              </c:numCache>
            </c:numRef>
          </c:val>
          <c:smooth val="0"/>
          <c:extLst>
            <c:ext xmlns:c16="http://schemas.microsoft.com/office/drawing/2014/chart" uri="{C3380CC4-5D6E-409C-BE32-E72D297353CC}">
              <c16:uniqueId val="{00000003-68C0-42BD-BD69-3E043EA61EB3}"/>
            </c:ext>
          </c:extLst>
        </c:ser>
        <c:ser>
          <c:idx val="4"/>
          <c:order val="4"/>
          <c:tx>
            <c:strRef>
              <c:f>'infra, collapsed'!$B$8</c:f>
              <c:strCache>
                <c:ptCount val="1"/>
                <c:pt idx="0">
                  <c:v>Government facilities</c:v>
                </c:pt>
              </c:strCache>
            </c:strRef>
          </c:tx>
          <c:spPr>
            <a:ln w="28575" cap="rnd">
              <a:solidFill>
                <a:schemeClr val="accent5"/>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collapsed'!$C$8:$M$8</c:f>
              <c:numCache>
                <c:formatCode>General</c:formatCode>
                <c:ptCount val="11"/>
                <c:pt idx="0">
                  <c:v>0</c:v>
                </c:pt>
                <c:pt idx="1">
                  <c:v>8.5228999999999999E-2</c:v>
                </c:pt>
                <c:pt idx="2">
                  <c:v>8.4887000000000004E-2</c:v>
                </c:pt>
                <c:pt idx="3">
                  <c:v>8.4885000000000002E-2</c:v>
                </c:pt>
                <c:pt idx="4">
                  <c:v>8.4885000000000002E-2</c:v>
                </c:pt>
                <c:pt idx="5">
                  <c:v>8.4885000000000002E-2</c:v>
                </c:pt>
                <c:pt idx="6">
                  <c:v>8.4885000000000002E-2</c:v>
                </c:pt>
                <c:pt idx="7">
                  <c:v>8.4885000000000002E-2</c:v>
                </c:pt>
                <c:pt idx="8">
                  <c:v>8.4885000000000002E-2</c:v>
                </c:pt>
                <c:pt idx="9">
                  <c:v>8.4885000000000002E-2</c:v>
                </c:pt>
                <c:pt idx="10">
                  <c:v>8.4885000000000002E-2</c:v>
                </c:pt>
              </c:numCache>
            </c:numRef>
          </c:val>
          <c:smooth val="0"/>
          <c:extLst>
            <c:ext xmlns:c16="http://schemas.microsoft.com/office/drawing/2014/chart" uri="{C3380CC4-5D6E-409C-BE32-E72D297353CC}">
              <c16:uniqueId val="{00000004-68C0-42BD-BD69-3E043EA61EB3}"/>
            </c:ext>
          </c:extLst>
        </c:ser>
        <c:ser>
          <c:idx val="5"/>
          <c:order val="5"/>
          <c:tx>
            <c:strRef>
              <c:f>'infra, collapsed'!$B$9</c:f>
              <c:strCache>
                <c:ptCount val="1"/>
                <c:pt idx="0">
                  <c:v>Resources</c:v>
                </c:pt>
              </c:strCache>
            </c:strRef>
          </c:tx>
          <c:spPr>
            <a:ln w="28575" cap="rnd">
              <a:solidFill>
                <a:schemeClr val="accent6"/>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collapsed'!$C$9:$M$9</c:f>
              <c:numCache>
                <c:formatCode>General</c:formatCode>
                <c:ptCount val="11"/>
                <c:pt idx="0">
                  <c:v>0</c:v>
                </c:pt>
                <c:pt idx="1">
                  <c:v>5.7160999999999997E-2</c:v>
                </c:pt>
                <c:pt idx="2">
                  <c:v>5.6950000000000001E-2</c:v>
                </c:pt>
                <c:pt idx="3">
                  <c:v>5.6946999999999998E-2</c:v>
                </c:pt>
                <c:pt idx="4">
                  <c:v>5.6946999999999998E-2</c:v>
                </c:pt>
                <c:pt idx="5">
                  <c:v>5.6946999999999998E-2</c:v>
                </c:pt>
                <c:pt idx="6">
                  <c:v>5.6946999999999998E-2</c:v>
                </c:pt>
                <c:pt idx="7">
                  <c:v>5.6946999999999998E-2</c:v>
                </c:pt>
                <c:pt idx="8">
                  <c:v>5.6946999999999998E-2</c:v>
                </c:pt>
                <c:pt idx="9">
                  <c:v>5.6946999999999998E-2</c:v>
                </c:pt>
                <c:pt idx="10">
                  <c:v>5.6946999999999998E-2</c:v>
                </c:pt>
              </c:numCache>
            </c:numRef>
          </c:val>
          <c:smooth val="0"/>
          <c:extLst>
            <c:ext xmlns:c16="http://schemas.microsoft.com/office/drawing/2014/chart" uri="{C3380CC4-5D6E-409C-BE32-E72D297353CC}">
              <c16:uniqueId val="{00000005-68C0-42BD-BD69-3E043EA61EB3}"/>
            </c:ext>
          </c:extLst>
        </c:ser>
        <c:ser>
          <c:idx val="6"/>
          <c:order val="6"/>
          <c:tx>
            <c:strRef>
              <c:f>'infra, collapsed'!$B$10</c:f>
              <c:strCache>
                <c:ptCount val="1"/>
                <c:pt idx="0">
                  <c:v>Other</c:v>
                </c:pt>
              </c:strCache>
            </c:strRef>
          </c:tx>
          <c:spPr>
            <a:ln w="28575" cap="rnd">
              <a:solidFill>
                <a:schemeClr val="accent1">
                  <a:lumMod val="60000"/>
                </a:schemeClr>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collapsed'!$C$10:$M$10</c:f>
              <c:numCache>
                <c:formatCode>General</c:formatCode>
                <c:ptCount val="11"/>
                <c:pt idx="0">
                  <c:v>0</c:v>
                </c:pt>
                <c:pt idx="1">
                  <c:v>2.9902000000000001E-2</c:v>
                </c:pt>
                <c:pt idx="2">
                  <c:v>2.9833999999999999E-2</c:v>
                </c:pt>
                <c:pt idx="3">
                  <c:v>2.9833999999999999E-2</c:v>
                </c:pt>
                <c:pt idx="4">
                  <c:v>2.9833999999999999E-2</c:v>
                </c:pt>
                <c:pt idx="5">
                  <c:v>2.9833999999999999E-2</c:v>
                </c:pt>
                <c:pt idx="6">
                  <c:v>2.9833999999999999E-2</c:v>
                </c:pt>
                <c:pt idx="7">
                  <c:v>2.9833999999999999E-2</c:v>
                </c:pt>
                <c:pt idx="8">
                  <c:v>2.9833999999999999E-2</c:v>
                </c:pt>
                <c:pt idx="9">
                  <c:v>2.9833999999999999E-2</c:v>
                </c:pt>
                <c:pt idx="10">
                  <c:v>2.9833999999999999E-2</c:v>
                </c:pt>
              </c:numCache>
            </c:numRef>
          </c:val>
          <c:smooth val="0"/>
          <c:extLst>
            <c:ext xmlns:c16="http://schemas.microsoft.com/office/drawing/2014/chart" uri="{C3380CC4-5D6E-409C-BE32-E72D297353CC}">
              <c16:uniqueId val="{00000006-68C0-42BD-BD69-3E043EA61EB3}"/>
            </c:ext>
          </c:extLst>
        </c:ser>
        <c:ser>
          <c:idx val="7"/>
          <c:order val="7"/>
          <c:tx>
            <c:strRef>
              <c:f>'infra, collapsed'!$B$11</c:f>
              <c:strCache>
                <c:ptCount val="1"/>
                <c:pt idx="0">
                  <c:v>Unknown</c:v>
                </c:pt>
              </c:strCache>
            </c:strRef>
          </c:tx>
          <c:spPr>
            <a:ln w="28575" cap="rnd">
              <a:solidFill>
                <a:schemeClr val="accent2">
                  <a:lumMod val="60000"/>
                </a:schemeClr>
              </a:solidFill>
              <a:round/>
            </a:ln>
            <a:effectLst/>
          </c:spPr>
          <c:marker>
            <c:symbol val="none"/>
          </c:marker>
          <c:cat>
            <c:numRef>
              <c:f>'infra, collapsed'!$C$12:$M$12</c:f>
              <c:numCache>
                <c:formatCode>General</c:formatCode>
                <c:ptCount val="11"/>
                <c:pt idx="0">
                  <c:v>0</c:v>
                </c:pt>
                <c:pt idx="1">
                  <c:v>5</c:v>
                </c:pt>
                <c:pt idx="2">
                  <c:v>10</c:v>
                </c:pt>
                <c:pt idx="3">
                  <c:v>15</c:v>
                </c:pt>
                <c:pt idx="4">
                  <c:v>20</c:v>
                </c:pt>
                <c:pt idx="5">
                  <c:v>25</c:v>
                </c:pt>
                <c:pt idx="6">
                  <c:v>50</c:v>
                </c:pt>
                <c:pt idx="7">
                  <c:v>100</c:v>
                </c:pt>
                <c:pt idx="8">
                  <c:v>250</c:v>
                </c:pt>
                <c:pt idx="9">
                  <c:v>500</c:v>
                </c:pt>
                <c:pt idx="10">
                  <c:v>2000</c:v>
                </c:pt>
              </c:numCache>
            </c:numRef>
          </c:cat>
          <c:val>
            <c:numRef>
              <c:f>'infra, collapsed'!$C$11:$M$11</c:f>
              <c:numCache>
                <c:formatCode>General</c:formatCode>
                <c:ptCount val="11"/>
                <c:pt idx="0">
                  <c:v>0</c:v>
                </c:pt>
                <c:pt idx="1">
                  <c:v>1.63E-4</c:v>
                </c:pt>
                <c:pt idx="2">
                  <c:v>1.65E-4</c:v>
                </c:pt>
                <c:pt idx="3">
                  <c:v>1.65E-4</c:v>
                </c:pt>
                <c:pt idx="4">
                  <c:v>1.65E-4</c:v>
                </c:pt>
                <c:pt idx="5">
                  <c:v>1.65E-4</c:v>
                </c:pt>
                <c:pt idx="6">
                  <c:v>1.65E-4</c:v>
                </c:pt>
                <c:pt idx="7">
                  <c:v>1.65E-4</c:v>
                </c:pt>
                <c:pt idx="8">
                  <c:v>1.65E-4</c:v>
                </c:pt>
                <c:pt idx="9">
                  <c:v>1.65E-4</c:v>
                </c:pt>
                <c:pt idx="10">
                  <c:v>1.65E-4</c:v>
                </c:pt>
              </c:numCache>
            </c:numRef>
          </c:val>
          <c:smooth val="0"/>
          <c:extLst>
            <c:ext xmlns:c16="http://schemas.microsoft.com/office/drawing/2014/chart" uri="{C3380CC4-5D6E-409C-BE32-E72D297353CC}">
              <c16:uniqueId val="{00000007-68C0-42BD-BD69-3E043EA61EB3}"/>
            </c:ext>
          </c:extLst>
        </c:ser>
        <c:dLbls>
          <c:showLegendKey val="0"/>
          <c:showVal val="0"/>
          <c:showCatName val="0"/>
          <c:showSerName val="0"/>
          <c:showPercent val="0"/>
          <c:showBubbleSize val="0"/>
        </c:dLbls>
        <c:smooth val="0"/>
        <c:axId val="459804415"/>
        <c:axId val="459806815"/>
      </c:lineChart>
      <c:catAx>
        <c:axId val="459804415"/>
        <c:scaling>
          <c:orientation val="minMax"/>
        </c:scaling>
        <c:delete val="0"/>
        <c:axPos val="b"/>
        <c:title>
          <c:tx>
            <c:rich>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After</a:t>
                </a:r>
                <a:r>
                  <a:rPr lang="en-US" sz="1200" baseline="0"/>
                  <a:t> n Strikes</a:t>
                </a:r>
                <a:endParaRPr lang="en-US" sz="1200"/>
              </a:p>
            </c:rich>
          </c:tx>
          <c:overlay val="0"/>
          <c:spPr>
            <a:noFill/>
            <a:ln>
              <a:noFill/>
            </a:ln>
            <a:effectLst/>
          </c:spPr>
          <c:txPr>
            <a:bodyPr rot="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9806815"/>
        <c:crosses val="autoZero"/>
        <c:auto val="1"/>
        <c:lblAlgn val="ctr"/>
        <c:lblOffset val="100"/>
        <c:noMultiLvlLbl val="0"/>
      </c:catAx>
      <c:valAx>
        <c:axId val="459806815"/>
        <c:scaling>
          <c:orientation val="minMax"/>
          <c:max val="1"/>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r>
                  <a:rPr lang="en-US" sz="1200"/>
                  <a:t>Probability of Strike Agasint End State</a:t>
                </a:r>
              </a:p>
            </c:rich>
          </c:tx>
          <c:overlay val="0"/>
          <c:spPr>
            <a:noFill/>
            <a:ln>
              <a:noFill/>
            </a:ln>
            <a:effectLst/>
          </c:spPr>
          <c:txPr>
            <a:bodyPr rot="-5400000" spcFirstLastPara="1" vertOverflow="ellipsis" vert="horz" wrap="square" anchor="ctr" anchorCtr="1"/>
            <a:lstStyle/>
            <a:p>
              <a:pPr>
                <a:defRPr sz="12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59804415"/>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684A5-DA25-852B-C7B0-BB6599D7E43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B67E36E-CE5E-B264-C3E8-82BEDED759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F9FDA9-80FD-E774-F3CE-4FFEA715C54C}"/>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5FB58CB5-B033-F5EB-6ED2-C6AB7F843F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72C086B-BC5C-7612-F01D-3D864D19EDF8}"/>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3187972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9DC3D-5C7E-EE51-7EF9-B29C3CC87E8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47AB7B-BCB7-0DBE-F15F-EE6DC11E0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20C210-1096-C4AE-235C-E0B3D5C99C8C}"/>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4118E056-DE36-3F49-037A-35C92DF62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E88E61-CDA0-E24B-5FFD-5AFC4734E86D}"/>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510441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A346-26B0-B740-9429-3D6F369C76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FF7DEF4-F844-085F-C358-117D26B1E9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04295EC-07D0-A526-77AA-51536E837CCC}"/>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8EA7A302-1219-85FD-D1EA-211801C92B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4FB076-DE5C-1EFE-4CDF-7429356ADD35}"/>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36840001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8AB1F-B630-1A47-1A28-BD473ED00B4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4ABA10-C104-4CD0-C19E-DE2011DAA9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0F1D8F-1915-7760-ADC1-99A03EA5135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A518BBE-6665-CC5F-535C-367A7C735142}"/>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6" name="Footer Placeholder 5">
            <a:extLst>
              <a:ext uri="{FF2B5EF4-FFF2-40B4-BE49-F238E27FC236}">
                <a16:creationId xmlns:a16="http://schemas.microsoft.com/office/drawing/2014/main" id="{E65AB8B1-1F3F-7D0A-D289-05F2CDAB40A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17DC3EA-C399-46C0-4386-833F5BF115C1}"/>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8052689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0A808-DAE9-A95B-84D7-E50B20843FF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63DC3B-9318-FA66-182F-AEC100A9631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979C26-C865-DE12-24E5-CC967D0EB15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52D1B0-C464-737C-0A53-147414193D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80755EE-2169-31B3-5F0B-CD9309A9F8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6804C15-5D59-B177-8EBF-97B0A0873C0B}"/>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8" name="Footer Placeholder 7">
            <a:extLst>
              <a:ext uri="{FF2B5EF4-FFF2-40B4-BE49-F238E27FC236}">
                <a16:creationId xmlns:a16="http://schemas.microsoft.com/office/drawing/2014/main" id="{0A46C0A5-E8DF-902F-8C10-872BDB3166E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B3224A5-9FBB-C82C-75AC-B2CEF3C5DE89}"/>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0172799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15CA1-9828-401B-50BA-71813E20EF3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BD75B47-B1F7-157E-479C-284FFAC9EB82}"/>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4" name="Footer Placeholder 3">
            <a:extLst>
              <a:ext uri="{FF2B5EF4-FFF2-40B4-BE49-F238E27FC236}">
                <a16:creationId xmlns:a16="http://schemas.microsoft.com/office/drawing/2014/main" id="{DF6B7215-432E-2A21-FF25-5F62ABF8EB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869E3C-BEB1-2B1E-355A-5EF7D4791770}"/>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272581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F8C2F3C-6DD5-5B95-FF18-C49265FB40DD}"/>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3" name="Footer Placeholder 2">
            <a:extLst>
              <a:ext uri="{FF2B5EF4-FFF2-40B4-BE49-F238E27FC236}">
                <a16:creationId xmlns:a16="http://schemas.microsoft.com/office/drawing/2014/main" id="{D8172F20-48B6-2581-730F-0DAA4BC970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306AA22-C67E-82E8-19FA-540936EBB159}"/>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4752781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DC2415-30FA-6BB9-93E8-B640BE51C9C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B10509C-C96A-F22C-622F-0A61D2B4D0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289700-F938-B075-FF4B-94933DBAB1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E7468F4-CDC3-4F84-F037-56E66528B7F8}"/>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6" name="Footer Placeholder 5">
            <a:extLst>
              <a:ext uri="{FF2B5EF4-FFF2-40B4-BE49-F238E27FC236}">
                <a16:creationId xmlns:a16="http://schemas.microsoft.com/office/drawing/2014/main" id="{54C59673-F8E4-A538-13F8-D6371995683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21463D4-46B6-D4A9-AD25-007D87CCABED}"/>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20733838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6CBDA-0658-1AE3-2E03-99212BCBA56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7828968-5708-4C37-DA64-C3C99C3D062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CA560F-AABE-4DEF-4BB9-EABD121A8FD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E02D1D-FFB5-AC58-2EA6-4BA4CC026E3B}"/>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6" name="Footer Placeholder 5">
            <a:extLst>
              <a:ext uri="{FF2B5EF4-FFF2-40B4-BE49-F238E27FC236}">
                <a16:creationId xmlns:a16="http://schemas.microsoft.com/office/drawing/2014/main" id="{F19DF3F3-DF26-03FE-03F6-605AD3ECFC6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075DB4-8DD0-8FDF-E8E1-9008DF9C9700}"/>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1628807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F3BA-D964-F92A-20A4-F9EFFA63166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AA5E6F9-14A3-EE8A-FF1B-352DFBA57B3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4DA290-DD16-D517-A45A-182B636A12B7}"/>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F50325E0-2007-7BFC-E1A5-AC84A746B1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3448BAD-8EE8-58C6-7130-BBB91E219B1A}"/>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28028645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A19663-7EA3-6CBA-1E13-F982858C5B4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A320A13-9960-FCC8-2A7E-8F10588191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D4B66B-6144-EB27-1BD8-9FDF84E32F18}"/>
              </a:ext>
            </a:extLst>
          </p:cNvPr>
          <p:cNvSpPr>
            <a:spLocks noGrp="1"/>
          </p:cNvSpPr>
          <p:nvPr>
            <p:ph type="dt" sz="half" idx="10"/>
          </p:nvPr>
        </p:nvSpPr>
        <p:spPr/>
        <p:txBody>
          <a:body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E0519E49-4B04-1894-FA4A-FEEEFE0518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3E80EB-420A-CDEC-DF7E-5688D1D0AEFF}"/>
              </a:ext>
            </a:extLst>
          </p:cNvPr>
          <p:cNvSpPr>
            <a:spLocks noGrp="1"/>
          </p:cNvSpPr>
          <p:nvPr>
            <p:ph type="sldNum" sz="quarter" idx="12"/>
          </p:nvPr>
        </p:nvSpPr>
        <p:spPr/>
        <p:txBody>
          <a:bodyPr/>
          <a:lstStyle/>
          <a:p>
            <a:fld id="{F5B5AAA8-4A7D-47C8-979B-C202548D28D7}" type="slidenum">
              <a:rPr lang="en-US" smtClean="0"/>
              <a:t>‹#›</a:t>
            </a:fld>
            <a:endParaRPr lang="en-US"/>
          </a:p>
        </p:txBody>
      </p:sp>
    </p:spTree>
    <p:extLst>
      <p:ext uri="{BB962C8B-B14F-4D97-AF65-F5344CB8AC3E}">
        <p14:creationId xmlns:p14="http://schemas.microsoft.com/office/powerpoint/2010/main" val="5313224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FABF1CE-A9FE-4D8B-16C5-15CF83D570A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E7FBE0-780E-272D-A54F-368341EEB7A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70B0F-A78D-0D94-A767-8B5C84BB77D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05ABFEB-B687-4971-91D1-2F7C75FB417F}" type="datetimeFigureOut">
              <a:rPr lang="en-US" smtClean="0"/>
              <a:t>11/13/2025</a:t>
            </a:fld>
            <a:endParaRPr lang="en-US"/>
          </a:p>
        </p:txBody>
      </p:sp>
      <p:sp>
        <p:nvSpPr>
          <p:cNvPr id="5" name="Footer Placeholder 4">
            <a:extLst>
              <a:ext uri="{FF2B5EF4-FFF2-40B4-BE49-F238E27FC236}">
                <a16:creationId xmlns:a16="http://schemas.microsoft.com/office/drawing/2014/main" id="{9E5F5756-B67A-DB35-F7D4-10B5452FBD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D2DC138-3487-754D-8ED8-CF720074857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B5AAA8-4A7D-47C8-979B-C202548D28D7}" type="slidenum">
              <a:rPr lang="en-US" smtClean="0"/>
              <a:t>‹#›</a:t>
            </a:fld>
            <a:endParaRPr lang="en-US"/>
          </a:p>
        </p:txBody>
      </p:sp>
    </p:spTree>
    <p:extLst>
      <p:ext uri="{BB962C8B-B14F-4D97-AF65-F5344CB8AC3E}">
        <p14:creationId xmlns:p14="http://schemas.microsoft.com/office/powerpoint/2010/main" val="31485882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chart" Target="../charts/chart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D0A44-377B-3152-31A2-4151B27F8502}"/>
              </a:ext>
            </a:extLst>
          </p:cNvPr>
          <p:cNvSpPr>
            <a:spLocks noGrp="1"/>
          </p:cNvSpPr>
          <p:nvPr>
            <p:ph type="ctrTitle"/>
          </p:nvPr>
        </p:nvSpPr>
        <p:spPr/>
        <p:txBody>
          <a:bodyPr/>
          <a:lstStyle/>
          <a:p>
            <a:r>
              <a:rPr lang="en-US" dirty="0"/>
              <a:t>Project NOBLE</a:t>
            </a:r>
          </a:p>
        </p:txBody>
      </p:sp>
      <p:sp>
        <p:nvSpPr>
          <p:cNvPr id="3" name="Subtitle 2">
            <a:extLst>
              <a:ext uri="{FF2B5EF4-FFF2-40B4-BE49-F238E27FC236}">
                <a16:creationId xmlns:a16="http://schemas.microsoft.com/office/drawing/2014/main" id="{C9C1DF33-9B29-08CB-855E-CF9579A517E8}"/>
              </a:ext>
            </a:extLst>
          </p:cNvPr>
          <p:cNvSpPr>
            <a:spLocks noGrp="1"/>
          </p:cNvSpPr>
          <p:nvPr>
            <p:ph type="subTitle" idx="1"/>
          </p:nvPr>
        </p:nvSpPr>
        <p:spPr/>
        <p:txBody>
          <a:bodyPr>
            <a:normAutofit fontScale="92500"/>
          </a:bodyPr>
          <a:lstStyle/>
          <a:p>
            <a:endParaRPr lang="en-US" dirty="0"/>
          </a:p>
          <a:p>
            <a:r>
              <a:rPr lang="en-US" dirty="0"/>
              <a:t>Projecting Strikes Against Ukrainian Infrastructure with Markov Transitions</a:t>
            </a:r>
          </a:p>
          <a:p>
            <a:r>
              <a:rPr lang="en-US" sz="1700" dirty="0"/>
              <a:t>Earp, Mason, Dallas, Ryan</a:t>
            </a:r>
          </a:p>
          <a:p>
            <a:r>
              <a:rPr lang="en-US" sz="1700" dirty="0" err="1"/>
              <a:t>Egl</a:t>
            </a:r>
            <a:r>
              <a:rPr lang="en-US" sz="1700" dirty="0"/>
              <a:t>, Hannah Lumpkin, Bree</a:t>
            </a:r>
          </a:p>
          <a:p>
            <a:endParaRPr lang="en-US" dirty="0"/>
          </a:p>
        </p:txBody>
      </p:sp>
    </p:spTree>
    <p:extLst>
      <p:ext uri="{BB962C8B-B14F-4D97-AF65-F5344CB8AC3E}">
        <p14:creationId xmlns:p14="http://schemas.microsoft.com/office/powerpoint/2010/main" val="761867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0930C-05F1-2507-08E4-4319DE0F279E}"/>
              </a:ext>
            </a:extLst>
          </p:cNvPr>
          <p:cNvSpPr>
            <a:spLocks noGrp="1"/>
          </p:cNvSpPr>
          <p:nvPr>
            <p:ph type="title"/>
          </p:nvPr>
        </p:nvSpPr>
        <p:spPr/>
        <p:txBody>
          <a:bodyPr/>
          <a:lstStyle/>
          <a:p>
            <a:r>
              <a:rPr lang="en-US" dirty="0"/>
              <a:t>Notes</a:t>
            </a:r>
          </a:p>
        </p:txBody>
      </p:sp>
      <p:sp>
        <p:nvSpPr>
          <p:cNvPr id="3" name="Content Placeholder 2">
            <a:extLst>
              <a:ext uri="{FF2B5EF4-FFF2-40B4-BE49-F238E27FC236}">
                <a16:creationId xmlns:a16="http://schemas.microsoft.com/office/drawing/2014/main" id="{A2BD7EE3-4D24-89C5-E7D1-FE2734F58EBF}"/>
              </a:ext>
            </a:extLst>
          </p:cNvPr>
          <p:cNvSpPr>
            <a:spLocks noGrp="1"/>
          </p:cNvSpPr>
          <p:nvPr>
            <p:ph idx="1"/>
          </p:nvPr>
        </p:nvSpPr>
        <p:spPr/>
        <p:txBody>
          <a:bodyPr>
            <a:normAutofit/>
          </a:bodyPr>
          <a:lstStyle/>
          <a:p>
            <a:r>
              <a:rPr lang="en-US" sz="2400" dirty="0"/>
              <a:t>The full code, all matrices and tables, and answers to the prompted questions can be found in the accompanying </a:t>
            </a:r>
            <a:r>
              <a:rPr lang="en-US" sz="2400" dirty="0" err="1"/>
              <a:t>Jupyter</a:t>
            </a:r>
            <a:r>
              <a:rPr lang="en-US" sz="2400" dirty="0"/>
              <a:t> notebook.</a:t>
            </a:r>
          </a:p>
          <a:p>
            <a:endParaRPr lang="en-US" sz="2400" dirty="0"/>
          </a:p>
          <a:p>
            <a:r>
              <a:rPr lang="en-US" sz="2400" dirty="0"/>
              <a:t>Claude was used to troubleshoot code, but no code written by Claude was used for the simulation (i.e., code written by Claude for troubleshooting was removed after bugs were identified).  Therefore, Claude’s only influence is the adjustment of pre-existing code originally based on Assignment 5 and course content downloaded from the course GitHub.</a:t>
            </a:r>
          </a:p>
        </p:txBody>
      </p:sp>
    </p:spTree>
    <p:extLst>
      <p:ext uri="{BB962C8B-B14F-4D97-AF65-F5344CB8AC3E}">
        <p14:creationId xmlns:p14="http://schemas.microsoft.com/office/powerpoint/2010/main" val="37470263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BCC579-5CC0-A5BD-3B70-BDF1CB6BFFB8}"/>
              </a:ext>
            </a:extLst>
          </p:cNvPr>
          <p:cNvSpPr>
            <a:spLocks noGrp="1"/>
          </p:cNvSpPr>
          <p:nvPr>
            <p:ph type="title"/>
          </p:nvPr>
        </p:nvSpPr>
        <p:spPr/>
        <p:txBody>
          <a:bodyPr/>
          <a:lstStyle/>
          <a:p>
            <a:r>
              <a:rPr lang="en-US" dirty="0"/>
              <a:t>Target Variables</a:t>
            </a:r>
          </a:p>
        </p:txBody>
      </p:sp>
      <p:sp>
        <p:nvSpPr>
          <p:cNvPr id="3" name="Content Placeholder 2">
            <a:extLst>
              <a:ext uri="{FF2B5EF4-FFF2-40B4-BE49-F238E27FC236}">
                <a16:creationId xmlns:a16="http://schemas.microsoft.com/office/drawing/2014/main" id="{1FA432B6-2B47-2D08-4D66-59E0E2B0BDE3}"/>
              </a:ext>
            </a:extLst>
          </p:cNvPr>
          <p:cNvSpPr>
            <a:spLocks noGrp="1"/>
          </p:cNvSpPr>
          <p:nvPr>
            <p:ph idx="1"/>
          </p:nvPr>
        </p:nvSpPr>
        <p:spPr/>
        <p:txBody>
          <a:bodyPr/>
          <a:lstStyle/>
          <a:p>
            <a:r>
              <a:rPr lang="en-US" dirty="0"/>
              <a:t>oblast</a:t>
            </a:r>
          </a:p>
          <a:p>
            <a:r>
              <a:rPr lang="en-US" dirty="0"/>
              <a:t>rayon</a:t>
            </a:r>
          </a:p>
          <a:p>
            <a:r>
              <a:rPr lang="en-US" dirty="0"/>
              <a:t>type_of_infrastructure</a:t>
            </a:r>
          </a:p>
        </p:txBody>
      </p:sp>
    </p:spTree>
    <p:extLst>
      <p:ext uri="{BB962C8B-B14F-4D97-AF65-F5344CB8AC3E}">
        <p14:creationId xmlns:p14="http://schemas.microsoft.com/office/powerpoint/2010/main" val="64733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43B684-7610-B1D2-CEFC-8BD5C31B7DB9}"/>
              </a:ext>
            </a:extLst>
          </p:cNvPr>
          <p:cNvSpPr>
            <a:spLocks noGrp="1"/>
          </p:cNvSpPr>
          <p:nvPr>
            <p:ph type="title"/>
          </p:nvPr>
        </p:nvSpPr>
        <p:spPr>
          <a:xfrm>
            <a:off x="154146" y="306846"/>
            <a:ext cx="5303520" cy="1493982"/>
          </a:xfrm>
        </p:spPr>
        <p:txBody>
          <a:bodyPr>
            <a:noAutofit/>
          </a:bodyPr>
          <a:lstStyle/>
          <a:p>
            <a:r>
              <a:rPr lang="en-US" sz="5400" b="1" dirty="0"/>
              <a:t>Markov Transition Heatmap</a:t>
            </a:r>
          </a:p>
        </p:txBody>
      </p:sp>
      <p:pic>
        <p:nvPicPr>
          <p:cNvPr id="5" name="Content Placeholder 4">
            <a:extLst>
              <a:ext uri="{FF2B5EF4-FFF2-40B4-BE49-F238E27FC236}">
                <a16:creationId xmlns:a16="http://schemas.microsoft.com/office/drawing/2014/main" id="{3E934E2D-DC50-5F05-84D7-445162EBF7EC}"/>
              </a:ext>
            </a:extLst>
          </p:cNvPr>
          <p:cNvPicPr>
            <a:picLocks noGrp="1" noChangeAspect="1"/>
          </p:cNvPicPr>
          <p:nvPr>
            <p:ph idx="1"/>
          </p:nvPr>
        </p:nvPicPr>
        <p:blipFill>
          <a:blip r:embed="rId2"/>
          <a:stretch>
            <a:fillRect/>
          </a:stretch>
        </p:blipFill>
        <p:spPr>
          <a:xfrm>
            <a:off x="5128816" y="246888"/>
            <a:ext cx="7063184" cy="6364223"/>
          </a:xfrm>
          <a:prstGeom prst="rect">
            <a:avLst/>
          </a:prstGeom>
        </p:spPr>
      </p:pic>
      <p:sp>
        <p:nvSpPr>
          <p:cNvPr id="3" name="Text Placeholder 2">
            <a:extLst>
              <a:ext uri="{FF2B5EF4-FFF2-40B4-BE49-F238E27FC236}">
                <a16:creationId xmlns:a16="http://schemas.microsoft.com/office/drawing/2014/main" id="{DABC945B-A85F-5464-5FBF-8FEE1E65DEAE}"/>
              </a:ext>
            </a:extLst>
          </p:cNvPr>
          <p:cNvSpPr>
            <a:spLocks noGrp="1"/>
          </p:cNvSpPr>
          <p:nvPr>
            <p:ph type="body" sz="half" idx="2"/>
          </p:nvPr>
        </p:nvSpPr>
        <p:spPr>
          <a:xfrm>
            <a:off x="839787" y="2694104"/>
            <a:ext cx="3932237" cy="2874175"/>
          </a:xfrm>
        </p:spPr>
        <p:txBody>
          <a:bodyPr>
            <a:normAutofit/>
          </a:bodyPr>
          <a:lstStyle/>
          <a:p>
            <a:pPr marL="285750" indent="-285750">
              <a:buFont typeface="Arial" panose="020B0604020202020204" pitchFamily="34" charset="0"/>
              <a:buChar char="•"/>
            </a:pPr>
            <a:r>
              <a:rPr lang="en-US" sz="2400" dirty="0"/>
              <a:t>Oblast</a:t>
            </a:r>
          </a:p>
          <a:p>
            <a:pPr marL="285750" indent="-285750">
              <a:buFont typeface="Arial" panose="020B0604020202020204" pitchFamily="34" charset="0"/>
              <a:buChar char="•"/>
            </a:pPr>
            <a:r>
              <a:rPr lang="en-US" sz="2400" dirty="0"/>
              <a:t>Sources/Origin</a:t>
            </a:r>
          </a:p>
          <a:p>
            <a:pPr marL="742950" lvl="1" indent="-285750">
              <a:buFont typeface="Arial" panose="020B0604020202020204" pitchFamily="34" charset="0"/>
              <a:buChar char="•"/>
            </a:pPr>
            <a:r>
              <a:rPr lang="en-US" sz="2400" dirty="0"/>
              <a:t>Row of Heatmap</a:t>
            </a:r>
          </a:p>
          <a:p>
            <a:pPr marL="285750" indent="-285750">
              <a:buFont typeface="Arial" panose="020B0604020202020204" pitchFamily="34" charset="0"/>
              <a:buChar char="•"/>
            </a:pPr>
            <a:r>
              <a:rPr lang="en-US" sz="2400" dirty="0"/>
              <a:t>Destinations</a:t>
            </a:r>
          </a:p>
          <a:p>
            <a:pPr marL="742950" lvl="1" indent="-285750">
              <a:buFont typeface="Arial" panose="020B0604020202020204" pitchFamily="34" charset="0"/>
              <a:buChar char="•"/>
            </a:pPr>
            <a:r>
              <a:rPr lang="en-US" sz="2400" dirty="0"/>
              <a:t>Column of Heatmap</a:t>
            </a:r>
          </a:p>
        </p:txBody>
      </p:sp>
    </p:spTree>
    <p:extLst>
      <p:ext uri="{BB962C8B-B14F-4D97-AF65-F5344CB8AC3E}">
        <p14:creationId xmlns:p14="http://schemas.microsoft.com/office/powerpoint/2010/main" val="31739029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87C7871-B3F9-DE91-164C-259656092FF4}"/>
              </a:ext>
            </a:extLst>
          </p:cNvPr>
          <p:cNvPicPr>
            <a:picLocks noGrp="1" noChangeAspect="1"/>
          </p:cNvPicPr>
          <p:nvPr>
            <p:ph idx="1"/>
          </p:nvPr>
        </p:nvPicPr>
        <p:blipFill>
          <a:blip r:embed="rId2"/>
          <a:stretch>
            <a:fillRect/>
          </a:stretch>
        </p:blipFill>
        <p:spPr>
          <a:xfrm>
            <a:off x="0" y="1160839"/>
            <a:ext cx="5870008" cy="5697162"/>
          </a:xfrm>
          <a:prstGeom prst="rect">
            <a:avLst/>
          </a:prstGeom>
        </p:spPr>
      </p:pic>
      <p:pic>
        <p:nvPicPr>
          <p:cNvPr id="7" name="Picture 6">
            <a:extLst>
              <a:ext uri="{FF2B5EF4-FFF2-40B4-BE49-F238E27FC236}">
                <a16:creationId xmlns:a16="http://schemas.microsoft.com/office/drawing/2014/main" id="{0C0DDD08-2D09-2B7C-C3E1-3291478D2F6F}"/>
              </a:ext>
            </a:extLst>
          </p:cNvPr>
          <p:cNvPicPr>
            <a:picLocks noChangeAspect="1"/>
          </p:cNvPicPr>
          <p:nvPr/>
        </p:nvPicPr>
        <p:blipFill>
          <a:blip r:embed="rId3"/>
          <a:stretch>
            <a:fillRect/>
          </a:stretch>
        </p:blipFill>
        <p:spPr>
          <a:xfrm>
            <a:off x="6096000" y="1169675"/>
            <a:ext cx="5870008" cy="5688325"/>
          </a:xfrm>
          <a:prstGeom prst="rect">
            <a:avLst/>
          </a:prstGeom>
        </p:spPr>
      </p:pic>
      <p:sp>
        <p:nvSpPr>
          <p:cNvPr id="9" name="Title 1">
            <a:extLst>
              <a:ext uri="{FF2B5EF4-FFF2-40B4-BE49-F238E27FC236}">
                <a16:creationId xmlns:a16="http://schemas.microsoft.com/office/drawing/2014/main" id="{84212A37-ACF6-D218-12F2-52E1D0DA8CBA}"/>
              </a:ext>
            </a:extLst>
          </p:cNvPr>
          <p:cNvSpPr>
            <a:spLocks noGrp="1"/>
          </p:cNvSpPr>
          <p:nvPr>
            <p:ph type="title"/>
          </p:nvPr>
        </p:nvSpPr>
        <p:spPr>
          <a:xfrm>
            <a:off x="566488" y="125714"/>
            <a:ext cx="4938323" cy="903427"/>
          </a:xfrm>
        </p:spPr>
        <p:txBody>
          <a:bodyPr>
            <a:noAutofit/>
          </a:bodyPr>
          <a:lstStyle/>
          <a:p>
            <a:r>
              <a:rPr lang="en-US" sz="5400" b="1" dirty="0"/>
              <a:t>Rayon Heatmap</a:t>
            </a:r>
          </a:p>
        </p:txBody>
      </p:sp>
      <p:sp>
        <p:nvSpPr>
          <p:cNvPr id="10" name="Title 1">
            <a:extLst>
              <a:ext uri="{FF2B5EF4-FFF2-40B4-BE49-F238E27FC236}">
                <a16:creationId xmlns:a16="http://schemas.microsoft.com/office/drawing/2014/main" id="{241CF9D6-9CA4-255B-B173-40FC1C120B81}"/>
              </a:ext>
            </a:extLst>
          </p:cNvPr>
          <p:cNvSpPr txBox="1">
            <a:spLocks/>
          </p:cNvSpPr>
          <p:nvPr/>
        </p:nvSpPr>
        <p:spPr>
          <a:xfrm>
            <a:off x="5437305" y="174809"/>
            <a:ext cx="6528703" cy="903427"/>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5400" b="1" dirty="0"/>
              <a:t>Infrastructure Heatmap</a:t>
            </a:r>
          </a:p>
        </p:txBody>
      </p:sp>
    </p:spTree>
    <p:extLst>
      <p:ext uri="{BB962C8B-B14F-4D97-AF65-F5344CB8AC3E}">
        <p14:creationId xmlns:p14="http://schemas.microsoft.com/office/powerpoint/2010/main" val="42082361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FEB94-5D1E-3A75-E13F-030411C94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19E64-E93C-6697-672B-EBB1B7C4BDA1}"/>
              </a:ext>
            </a:extLst>
          </p:cNvPr>
          <p:cNvSpPr>
            <a:spLocks noGrp="1"/>
          </p:cNvSpPr>
          <p:nvPr>
            <p:ph type="title"/>
          </p:nvPr>
        </p:nvSpPr>
        <p:spPr/>
        <p:txBody>
          <a:bodyPr/>
          <a:lstStyle/>
          <a:p>
            <a:r>
              <a:rPr lang="en-US" dirty="0"/>
              <a:t>Results</a:t>
            </a:r>
          </a:p>
        </p:txBody>
      </p:sp>
      <p:pic>
        <p:nvPicPr>
          <p:cNvPr id="7" name="Picture 6">
            <a:extLst>
              <a:ext uri="{FF2B5EF4-FFF2-40B4-BE49-F238E27FC236}">
                <a16:creationId xmlns:a16="http://schemas.microsoft.com/office/drawing/2014/main" id="{9EEB8E65-4BC0-AC59-C502-845B9EF5D5FD}"/>
              </a:ext>
            </a:extLst>
          </p:cNvPr>
          <p:cNvPicPr>
            <a:picLocks noChangeAspect="1"/>
          </p:cNvPicPr>
          <p:nvPr/>
        </p:nvPicPr>
        <p:blipFill>
          <a:blip r:embed="rId2"/>
          <a:stretch>
            <a:fillRect/>
          </a:stretch>
        </p:blipFill>
        <p:spPr>
          <a:xfrm>
            <a:off x="3819545" y="403782"/>
            <a:ext cx="8139976" cy="4834967"/>
          </a:xfrm>
          <a:prstGeom prst="rect">
            <a:avLst/>
          </a:prstGeom>
        </p:spPr>
      </p:pic>
      <p:sp>
        <p:nvSpPr>
          <p:cNvPr id="3" name="TextBox 2">
            <a:extLst>
              <a:ext uri="{FF2B5EF4-FFF2-40B4-BE49-F238E27FC236}">
                <a16:creationId xmlns:a16="http://schemas.microsoft.com/office/drawing/2014/main" id="{63F63EBA-1769-C297-231A-FC16492186EB}"/>
              </a:ext>
            </a:extLst>
          </p:cNvPr>
          <p:cNvSpPr txBox="1"/>
          <p:nvPr/>
        </p:nvSpPr>
        <p:spPr>
          <a:xfrm>
            <a:off x="586720" y="2481606"/>
            <a:ext cx="3632855" cy="1477328"/>
          </a:xfrm>
          <a:prstGeom prst="rect">
            <a:avLst/>
          </a:prstGeom>
          <a:noFill/>
        </p:spPr>
        <p:txBody>
          <a:bodyPr wrap="square" rtlCol="0">
            <a:spAutoFit/>
          </a:bodyPr>
          <a:lstStyle/>
          <a:p>
            <a:r>
              <a:rPr lang="en-US" dirty="0"/>
              <a:t>Infrastructure Markov Projection Numbers</a:t>
            </a:r>
          </a:p>
          <a:p>
            <a:endParaRPr lang="en-US" dirty="0"/>
          </a:p>
          <a:p>
            <a:r>
              <a:rPr lang="en-US" dirty="0"/>
              <a:t>Full tables can be found in the accompanying notebook</a:t>
            </a:r>
          </a:p>
        </p:txBody>
      </p:sp>
      <p:sp>
        <p:nvSpPr>
          <p:cNvPr id="4" name="Rectangle 3">
            <a:extLst>
              <a:ext uri="{FF2B5EF4-FFF2-40B4-BE49-F238E27FC236}">
                <a16:creationId xmlns:a16="http://schemas.microsoft.com/office/drawing/2014/main" id="{C1BB0765-1462-CAB4-D9F5-F58F3E90CF97}"/>
              </a:ext>
            </a:extLst>
          </p:cNvPr>
          <p:cNvSpPr/>
          <p:nvPr/>
        </p:nvSpPr>
        <p:spPr>
          <a:xfrm>
            <a:off x="3886200" y="2257425"/>
            <a:ext cx="8029575" cy="152400"/>
          </a:xfrm>
          <a:prstGeom prst="rect">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6F6E9A91-FE45-4E3C-994A-67D4870D96EB}"/>
              </a:ext>
            </a:extLst>
          </p:cNvPr>
          <p:cNvSpPr/>
          <p:nvPr/>
        </p:nvSpPr>
        <p:spPr>
          <a:xfrm>
            <a:off x="3895725" y="3238500"/>
            <a:ext cx="8029575" cy="152400"/>
          </a:xfrm>
          <a:prstGeom prst="rect">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12903F4D-CFB3-F5F8-75F7-4E7BB1B897A7}"/>
              </a:ext>
            </a:extLst>
          </p:cNvPr>
          <p:cNvSpPr/>
          <p:nvPr/>
        </p:nvSpPr>
        <p:spPr>
          <a:xfrm>
            <a:off x="3895725" y="3390900"/>
            <a:ext cx="8029575" cy="152400"/>
          </a:xfrm>
          <a:prstGeom prst="rect">
            <a:avLst/>
          </a:prstGeom>
          <a:solidFill>
            <a:srgbClr val="92D050">
              <a:alpha val="5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30951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1F6826-3B8C-A91B-E256-36B6FCD96B29}"/>
              </a:ext>
            </a:extLst>
          </p:cNvPr>
          <p:cNvSpPr>
            <a:spLocks noGrp="1"/>
          </p:cNvSpPr>
          <p:nvPr>
            <p:ph type="title"/>
          </p:nvPr>
        </p:nvSpPr>
        <p:spPr/>
        <p:txBody>
          <a:bodyPr/>
          <a:lstStyle/>
          <a:p>
            <a:r>
              <a:rPr lang="en-US" dirty="0"/>
              <a:t>Results (2) - Oblasts</a:t>
            </a:r>
          </a:p>
        </p:txBody>
      </p:sp>
      <p:graphicFrame>
        <p:nvGraphicFramePr>
          <p:cNvPr id="8" name="Chart 7">
            <a:extLst>
              <a:ext uri="{FF2B5EF4-FFF2-40B4-BE49-F238E27FC236}">
                <a16:creationId xmlns:a16="http://schemas.microsoft.com/office/drawing/2014/main" id="{BABE3E7F-A5B9-196D-2B51-2EBCCF3C2A95}"/>
              </a:ext>
            </a:extLst>
          </p:cNvPr>
          <p:cNvGraphicFramePr>
            <a:graphicFrameLocks/>
          </p:cNvGraphicFramePr>
          <p:nvPr>
            <p:extLst>
              <p:ext uri="{D42A27DB-BD31-4B8C-83A1-F6EECF244321}">
                <p14:modId xmlns:p14="http://schemas.microsoft.com/office/powerpoint/2010/main" val="701245043"/>
              </p:ext>
            </p:extLst>
          </p:nvPr>
        </p:nvGraphicFramePr>
        <p:xfrm>
          <a:off x="201168" y="1499616"/>
          <a:ext cx="5797296" cy="491032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2B9AE74C-849B-00FF-50DA-C416037FEEB6}"/>
              </a:ext>
            </a:extLst>
          </p:cNvPr>
          <p:cNvGraphicFramePr>
            <a:graphicFrameLocks/>
          </p:cNvGraphicFramePr>
          <p:nvPr>
            <p:extLst>
              <p:ext uri="{D42A27DB-BD31-4B8C-83A1-F6EECF244321}">
                <p14:modId xmlns:p14="http://schemas.microsoft.com/office/powerpoint/2010/main" val="1449836172"/>
              </p:ext>
            </p:extLst>
          </p:nvPr>
        </p:nvGraphicFramePr>
        <p:xfrm>
          <a:off x="6099048" y="1499616"/>
          <a:ext cx="5797296" cy="4910328"/>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9">
            <a:extLst>
              <a:ext uri="{FF2B5EF4-FFF2-40B4-BE49-F238E27FC236}">
                <a16:creationId xmlns:a16="http://schemas.microsoft.com/office/drawing/2014/main" id="{44D546FA-8662-5310-CAAB-D9D2C8F9886E}"/>
              </a:ext>
            </a:extLst>
          </p:cNvPr>
          <p:cNvSpPr txBox="1"/>
          <p:nvPr/>
        </p:nvSpPr>
        <p:spPr>
          <a:xfrm>
            <a:off x="2999346" y="3429000"/>
            <a:ext cx="2609621" cy="307777"/>
          </a:xfrm>
          <a:prstGeom prst="rect">
            <a:avLst/>
          </a:prstGeom>
          <a:noFill/>
        </p:spPr>
        <p:txBody>
          <a:bodyPr wrap="square" rtlCol="0">
            <a:spAutoFit/>
          </a:bodyPr>
          <a:lstStyle/>
          <a:p>
            <a:pPr algn="ctr"/>
            <a:r>
              <a:rPr lang="en-US" sz="1400" dirty="0"/>
              <a:t>Strikes in Dnipopetrovska: 0.1670</a:t>
            </a:r>
          </a:p>
        </p:txBody>
      </p:sp>
      <p:sp>
        <p:nvSpPr>
          <p:cNvPr id="11" name="TextBox 10">
            <a:extLst>
              <a:ext uri="{FF2B5EF4-FFF2-40B4-BE49-F238E27FC236}">
                <a16:creationId xmlns:a16="http://schemas.microsoft.com/office/drawing/2014/main" id="{FFEB892C-4930-0684-17F3-FD76E1A8E117}"/>
              </a:ext>
            </a:extLst>
          </p:cNvPr>
          <p:cNvSpPr txBox="1"/>
          <p:nvPr/>
        </p:nvSpPr>
        <p:spPr>
          <a:xfrm>
            <a:off x="1601228" y="2389469"/>
            <a:ext cx="2609621" cy="307777"/>
          </a:xfrm>
          <a:prstGeom prst="rect">
            <a:avLst/>
          </a:prstGeom>
          <a:noFill/>
        </p:spPr>
        <p:txBody>
          <a:bodyPr wrap="square" rtlCol="0">
            <a:spAutoFit/>
          </a:bodyPr>
          <a:lstStyle/>
          <a:p>
            <a:pPr algn="ctr"/>
            <a:r>
              <a:rPr lang="en-US" sz="1400" dirty="0"/>
              <a:t>Strikes in Donetska: 0.2512</a:t>
            </a:r>
          </a:p>
        </p:txBody>
      </p:sp>
      <p:sp>
        <p:nvSpPr>
          <p:cNvPr id="12" name="TextBox 11">
            <a:extLst>
              <a:ext uri="{FF2B5EF4-FFF2-40B4-BE49-F238E27FC236}">
                <a16:creationId xmlns:a16="http://schemas.microsoft.com/office/drawing/2014/main" id="{6F78C53A-C933-1B50-8094-5B44E5B9B9BF}"/>
              </a:ext>
            </a:extLst>
          </p:cNvPr>
          <p:cNvSpPr txBox="1"/>
          <p:nvPr/>
        </p:nvSpPr>
        <p:spPr>
          <a:xfrm>
            <a:off x="685800" y="3360905"/>
            <a:ext cx="1924050" cy="523220"/>
          </a:xfrm>
          <a:prstGeom prst="rect">
            <a:avLst/>
          </a:prstGeom>
          <a:noFill/>
        </p:spPr>
        <p:txBody>
          <a:bodyPr wrap="square" rtlCol="0">
            <a:spAutoFit/>
          </a:bodyPr>
          <a:lstStyle/>
          <a:p>
            <a:pPr algn="ctr"/>
            <a:r>
              <a:rPr lang="en-US" sz="1400" dirty="0"/>
              <a:t>Strikes in Kharkivska: 0.1398</a:t>
            </a:r>
          </a:p>
        </p:txBody>
      </p:sp>
      <p:sp>
        <p:nvSpPr>
          <p:cNvPr id="13" name="TextBox 12">
            <a:extLst>
              <a:ext uri="{FF2B5EF4-FFF2-40B4-BE49-F238E27FC236}">
                <a16:creationId xmlns:a16="http://schemas.microsoft.com/office/drawing/2014/main" id="{98833B4B-961A-7381-4422-560B74485C58}"/>
              </a:ext>
            </a:extLst>
          </p:cNvPr>
          <p:cNvSpPr txBox="1"/>
          <p:nvPr/>
        </p:nvSpPr>
        <p:spPr>
          <a:xfrm>
            <a:off x="8942946" y="3429000"/>
            <a:ext cx="2706129" cy="307777"/>
          </a:xfrm>
          <a:prstGeom prst="rect">
            <a:avLst/>
          </a:prstGeom>
          <a:noFill/>
        </p:spPr>
        <p:txBody>
          <a:bodyPr wrap="square" rtlCol="0">
            <a:spAutoFit/>
          </a:bodyPr>
          <a:lstStyle/>
          <a:p>
            <a:pPr algn="ctr"/>
            <a:r>
              <a:rPr lang="en-US" sz="1400" dirty="0"/>
              <a:t>Strikes in Dnipopetrovska : 0.1670</a:t>
            </a:r>
          </a:p>
        </p:txBody>
      </p:sp>
      <p:sp>
        <p:nvSpPr>
          <p:cNvPr id="14" name="TextBox 13">
            <a:extLst>
              <a:ext uri="{FF2B5EF4-FFF2-40B4-BE49-F238E27FC236}">
                <a16:creationId xmlns:a16="http://schemas.microsoft.com/office/drawing/2014/main" id="{E26642C3-D369-5C7A-8278-0372DAB1B084}"/>
              </a:ext>
            </a:extLst>
          </p:cNvPr>
          <p:cNvSpPr txBox="1"/>
          <p:nvPr/>
        </p:nvSpPr>
        <p:spPr>
          <a:xfrm>
            <a:off x="7468628" y="2379944"/>
            <a:ext cx="2609621" cy="307777"/>
          </a:xfrm>
          <a:prstGeom prst="rect">
            <a:avLst/>
          </a:prstGeom>
          <a:noFill/>
        </p:spPr>
        <p:txBody>
          <a:bodyPr wrap="square" rtlCol="0">
            <a:spAutoFit/>
          </a:bodyPr>
          <a:lstStyle/>
          <a:p>
            <a:pPr algn="ctr"/>
            <a:r>
              <a:rPr lang="en-US" sz="1400" dirty="0"/>
              <a:t>Strikes in Donetska : 0.2512</a:t>
            </a:r>
          </a:p>
        </p:txBody>
      </p:sp>
      <p:sp>
        <p:nvSpPr>
          <p:cNvPr id="15" name="TextBox 14">
            <a:extLst>
              <a:ext uri="{FF2B5EF4-FFF2-40B4-BE49-F238E27FC236}">
                <a16:creationId xmlns:a16="http://schemas.microsoft.com/office/drawing/2014/main" id="{20802C12-ADC0-5A9F-F34D-ABA88ACE921B}"/>
              </a:ext>
            </a:extLst>
          </p:cNvPr>
          <p:cNvSpPr txBox="1"/>
          <p:nvPr/>
        </p:nvSpPr>
        <p:spPr>
          <a:xfrm>
            <a:off x="6629400" y="3360905"/>
            <a:ext cx="1924050" cy="523220"/>
          </a:xfrm>
          <a:prstGeom prst="rect">
            <a:avLst/>
          </a:prstGeom>
          <a:noFill/>
        </p:spPr>
        <p:txBody>
          <a:bodyPr wrap="square" rtlCol="0">
            <a:spAutoFit/>
          </a:bodyPr>
          <a:lstStyle/>
          <a:p>
            <a:pPr algn="ctr"/>
            <a:r>
              <a:rPr lang="en-US" sz="1400" dirty="0"/>
              <a:t>Strikes in Kharkivska : 0.1398</a:t>
            </a:r>
          </a:p>
        </p:txBody>
      </p:sp>
    </p:spTree>
    <p:extLst>
      <p:ext uri="{BB962C8B-B14F-4D97-AF65-F5344CB8AC3E}">
        <p14:creationId xmlns:p14="http://schemas.microsoft.com/office/powerpoint/2010/main" val="378392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00459-5ED7-B99A-0340-CA6C04C100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92132C-BC48-CBBB-2B5C-6FB5B2036612}"/>
              </a:ext>
            </a:extLst>
          </p:cNvPr>
          <p:cNvSpPr>
            <a:spLocks noGrp="1"/>
          </p:cNvSpPr>
          <p:nvPr>
            <p:ph type="title"/>
          </p:nvPr>
        </p:nvSpPr>
        <p:spPr/>
        <p:txBody>
          <a:bodyPr/>
          <a:lstStyle/>
          <a:p>
            <a:r>
              <a:rPr lang="en-US" dirty="0"/>
              <a:t>Results (3) - Rayons</a:t>
            </a:r>
          </a:p>
        </p:txBody>
      </p:sp>
      <p:graphicFrame>
        <p:nvGraphicFramePr>
          <p:cNvPr id="3" name="Chart 2">
            <a:extLst>
              <a:ext uri="{FF2B5EF4-FFF2-40B4-BE49-F238E27FC236}">
                <a16:creationId xmlns:a16="http://schemas.microsoft.com/office/drawing/2014/main" id="{05EF74E2-1F95-99E4-7804-3A2BDDBEC031}"/>
              </a:ext>
            </a:extLst>
          </p:cNvPr>
          <p:cNvGraphicFramePr>
            <a:graphicFrameLocks/>
          </p:cNvGraphicFramePr>
          <p:nvPr>
            <p:extLst>
              <p:ext uri="{D42A27DB-BD31-4B8C-83A1-F6EECF244321}">
                <p14:modId xmlns:p14="http://schemas.microsoft.com/office/powerpoint/2010/main" val="3899568575"/>
              </p:ext>
            </p:extLst>
          </p:nvPr>
        </p:nvGraphicFramePr>
        <p:xfrm>
          <a:off x="197961" y="1499616"/>
          <a:ext cx="5806440" cy="491032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4" name="Chart 3">
            <a:extLst>
              <a:ext uri="{FF2B5EF4-FFF2-40B4-BE49-F238E27FC236}">
                <a16:creationId xmlns:a16="http://schemas.microsoft.com/office/drawing/2014/main" id="{F5E82E27-8092-2828-D2C5-98A54CF897CF}"/>
              </a:ext>
            </a:extLst>
          </p:cNvPr>
          <p:cNvGraphicFramePr>
            <a:graphicFrameLocks/>
          </p:cNvGraphicFramePr>
          <p:nvPr>
            <p:extLst>
              <p:ext uri="{D42A27DB-BD31-4B8C-83A1-F6EECF244321}">
                <p14:modId xmlns:p14="http://schemas.microsoft.com/office/powerpoint/2010/main" val="464268234"/>
              </p:ext>
            </p:extLst>
          </p:nvPr>
        </p:nvGraphicFramePr>
        <p:xfrm>
          <a:off x="6096000" y="1498862"/>
          <a:ext cx="5801412" cy="4910776"/>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Box 4">
            <a:extLst>
              <a:ext uri="{FF2B5EF4-FFF2-40B4-BE49-F238E27FC236}">
                <a16:creationId xmlns:a16="http://schemas.microsoft.com/office/drawing/2014/main" id="{25C146BB-40F2-E156-AA87-0F342957C27C}"/>
              </a:ext>
            </a:extLst>
          </p:cNvPr>
          <p:cNvSpPr txBox="1"/>
          <p:nvPr/>
        </p:nvSpPr>
        <p:spPr>
          <a:xfrm>
            <a:off x="935162" y="4397121"/>
            <a:ext cx="1924050" cy="523220"/>
          </a:xfrm>
          <a:prstGeom prst="rect">
            <a:avLst/>
          </a:prstGeom>
          <a:noFill/>
        </p:spPr>
        <p:txBody>
          <a:bodyPr wrap="square" rtlCol="0">
            <a:spAutoFit/>
          </a:bodyPr>
          <a:lstStyle/>
          <a:p>
            <a:pPr algn="ctr"/>
            <a:r>
              <a:rPr lang="en-US" sz="1400" dirty="0"/>
              <a:t>Strikes in Kramatorskyi : 0.0937</a:t>
            </a:r>
          </a:p>
        </p:txBody>
      </p:sp>
      <p:sp>
        <p:nvSpPr>
          <p:cNvPr id="6" name="TextBox 5">
            <a:extLst>
              <a:ext uri="{FF2B5EF4-FFF2-40B4-BE49-F238E27FC236}">
                <a16:creationId xmlns:a16="http://schemas.microsoft.com/office/drawing/2014/main" id="{43BA2FE3-AC0E-FFD1-80BF-14EB27E9ACA2}"/>
              </a:ext>
            </a:extLst>
          </p:cNvPr>
          <p:cNvSpPr txBox="1"/>
          <p:nvPr/>
        </p:nvSpPr>
        <p:spPr>
          <a:xfrm>
            <a:off x="2239972" y="4941714"/>
            <a:ext cx="2609621" cy="307777"/>
          </a:xfrm>
          <a:prstGeom prst="rect">
            <a:avLst/>
          </a:prstGeom>
          <a:noFill/>
        </p:spPr>
        <p:txBody>
          <a:bodyPr wrap="square" rtlCol="0">
            <a:spAutoFit/>
          </a:bodyPr>
          <a:lstStyle/>
          <a:p>
            <a:pPr algn="ctr"/>
            <a:r>
              <a:rPr lang="en-US" sz="1400" dirty="0"/>
              <a:t>Strikes in Nikopolskyi : 0.1020</a:t>
            </a:r>
          </a:p>
        </p:txBody>
      </p:sp>
      <p:sp>
        <p:nvSpPr>
          <p:cNvPr id="7" name="TextBox 6">
            <a:extLst>
              <a:ext uri="{FF2B5EF4-FFF2-40B4-BE49-F238E27FC236}">
                <a16:creationId xmlns:a16="http://schemas.microsoft.com/office/drawing/2014/main" id="{2D4E6FEB-1878-0CC5-FA8D-DCA96490DE0B}"/>
              </a:ext>
            </a:extLst>
          </p:cNvPr>
          <p:cNvSpPr txBox="1"/>
          <p:nvPr/>
        </p:nvSpPr>
        <p:spPr>
          <a:xfrm>
            <a:off x="743863" y="2505326"/>
            <a:ext cx="1924050" cy="523220"/>
          </a:xfrm>
          <a:prstGeom prst="rect">
            <a:avLst/>
          </a:prstGeom>
          <a:noFill/>
        </p:spPr>
        <p:txBody>
          <a:bodyPr wrap="square" rtlCol="0">
            <a:spAutoFit/>
          </a:bodyPr>
          <a:lstStyle/>
          <a:p>
            <a:pPr algn="ctr"/>
            <a:r>
              <a:rPr lang="en-US" sz="1400" dirty="0"/>
              <a:t>Strikes in “Missing”: 0.3593</a:t>
            </a:r>
          </a:p>
        </p:txBody>
      </p:sp>
      <p:sp>
        <p:nvSpPr>
          <p:cNvPr id="10" name="TextBox 9">
            <a:extLst>
              <a:ext uri="{FF2B5EF4-FFF2-40B4-BE49-F238E27FC236}">
                <a16:creationId xmlns:a16="http://schemas.microsoft.com/office/drawing/2014/main" id="{8EAEE1C0-7481-FB6F-D6FA-9F6DFB720A2A}"/>
              </a:ext>
            </a:extLst>
          </p:cNvPr>
          <p:cNvSpPr txBox="1"/>
          <p:nvPr/>
        </p:nvSpPr>
        <p:spPr>
          <a:xfrm>
            <a:off x="8229714" y="4941714"/>
            <a:ext cx="2609621" cy="307777"/>
          </a:xfrm>
          <a:prstGeom prst="rect">
            <a:avLst/>
          </a:prstGeom>
          <a:noFill/>
        </p:spPr>
        <p:txBody>
          <a:bodyPr wrap="square" rtlCol="0">
            <a:spAutoFit/>
          </a:bodyPr>
          <a:lstStyle/>
          <a:p>
            <a:pPr algn="ctr"/>
            <a:r>
              <a:rPr lang="en-US" sz="1400" dirty="0"/>
              <a:t>Strikes in Nikopolskyi: 0.1020</a:t>
            </a:r>
          </a:p>
        </p:txBody>
      </p:sp>
      <p:sp>
        <p:nvSpPr>
          <p:cNvPr id="11" name="TextBox 10">
            <a:extLst>
              <a:ext uri="{FF2B5EF4-FFF2-40B4-BE49-F238E27FC236}">
                <a16:creationId xmlns:a16="http://schemas.microsoft.com/office/drawing/2014/main" id="{68632DA8-C5FC-8674-DA18-8421913A523B}"/>
              </a:ext>
            </a:extLst>
          </p:cNvPr>
          <p:cNvSpPr txBox="1"/>
          <p:nvPr/>
        </p:nvSpPr>
        <p:spPr>
          <a:xfrm>
            <a:off x="6611379" y="2496633"/>
            <a:ext cx="2018272" cy="523220"/>
          </a:xfrm>
          <a:prstGeom prst="rect">
            <a:avLst/>
          </a:prstGeom>
          <a:noFill/>
        </p:spPr>
        <p:txBody>
          <a:bodyPr wrap="square" rtlCol="0">
            <a:spAutoFit/>
          </a:bodyPr>
          <a:lstStyle/>
          <a:p>
            <a:pPr algn="ctr"/>
            <a:r>
              <a:rPr lang="en-US" sz="1400" dirty="0"/>
              <a:t>Strikes in “Missing”: 0.3593</a:t>
            </a:r>
          </a:p>
        </p:txBody>
      </p:sp>
      <p:sp>
        <p:nvSpPr>
          <p:cNvPr id="12" name="TextBox 11">
            <a:extLst>
              <a:ext uri="{FF2B5EF4-FFF2-40B4-BE49-F238E27FC236}">
                <a16:creationId xmlns:a16="http://schemas.microsoft.com/office/drawing/2014/main" id="{5D11DE98-E20B-041C-EB6F-D684EBE844DC}"/>
              </a:ext>
            </a:extLst>
          </p:cNvPr>
          <p:cNvSpPr txBox="1"/>
          <p:nvPr/>
        </p:nvSpPr>
        <p:spPr>
          <a:xfrm>
            <a:off x="6836852" y="4397121"/>
            <a:ext cx="1933575" cy="523220"/>
          </a:xfrm>
          <a:prstGeom prst="rect">
            <a:avLst/>
          </a:prstGeom>
          <a:noFill/>
        </p:spPr>
        <p:txBody>
          <a:bodyPr wrap="square" rtlCol="0">
            <a:spAutoFit/>
          </a:bodyPr>
          <a:lstStyle/>
          <a:p>
            <a:pPr algn="ctr"/>
            <a:r>
              <a:rPr lang="en-US" sz="1400" dirty="0"/>
              <a:t>Strikes in Kramatorskyi: 0.0937</a:t>
            </a:r>
          </a:p>
        </p:txBody>
      </p:sp>
    </p:spTree>
    <p:extLst>
      <p:ext uri="{BB962C8B-B14F-4D97-AF65-F5344CB8AC3E}">
        <p14:creationId xmlns:p14="http://schemas.microsoft.com/office/powerpoint/2010/main" val="20096427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457D46-AE80-FFB2-F798-21A51E98A7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70C633-4F02-5C5E-4C22-C671687620FC}"/>
              </a:ext>
            </a:extLst>
          </p:cNvPr>
          <p:cNvSpPr>
            <a:spLocks noGrp="1"/>
          </p:cNvSpPr>
          <p:nvPr>
            <p:ph type="title"/>
          </p:nvPr>
        </p:nvSpPr>
        <p:spPr/>
        <p:txBody>
          <a:bodyPr/>
          <a:lstStyle/>
          <a:p>
            <a:r>
              <a:rPr lang="en-US" dirty="0"/>
              <a:t>Results (4) - Infrastructure</a:t>
            </a:r>
          </a:p>
        </p:txBody>
      </p:sp>
      <p:graphicFrame>
        <p:nvGraphicFramePr>
          <p:cNvPr id="4" name="Chart 3">
            <a:extLst>
              <a:ext uri="{FF2B5EF4-FFF2-40B4-BE49-F238E27FC236}">
                <a16:creationId xmlns:a16="http://schemas.microsoft.com/office/drawing/2014/main" id="{8E51B3DA-4A93-369C-102E-F7D7345E60CB}"/>
              </a:ext>
            </a:extLst>
          </p:cNvPr>
          <p:cNvGraphicFramePr>
            <a:graphicFrameLocks/>
          </p:cNvGraphicFramePr>
          <p:nvPr>
            <p:extLst>
              <p:ext uri="{D42A27DB-BD31-4B8C-83A1-F6EECF244321}">
                <p14:modId xmlns:p14="http://schemas.microsoft.com/office/powerpoint/2010/main" val="3813885642"/>
              </p:ext>
            </p:extLst>
          </p:nvPr>
        </p:nvGraphicFramePr>
        <p:xfrm>
          <a:off x="904875" y="1305983"/>
          <a:ext cx="10277475" cy="5274734"/>
        </p:xfrm>
        <a:graphic>
          <a:graphicData uri="http://schemas.openxmlformats.org/drawingml/2006/chart">
            <c:chart xmlns:c="http://schemas.openxmlformats.org/drawingml/2006/chart" xmlns:r="http://schemas.openxmlformats.org/officeDocument/2006/relationships" r:id="rId2"/>
          </a:graphicData>
        </a:graphic>
      </p:graphicFrame>
      <p:cxnSp>
        <p:nvCxnSpPr>
          <p:cNvPr id="5" name="Straight Connector 4">
            <a:extLst>
              <a:ext uri="{FF2B5EF4-FFF2-40B4-BE49-F238E27FC236}">
                <a16:creationId xmlns:a16="http://schemas.microsoft.com/office/drawing/2014/main" id="{8A9FF67B-6F7F-7385-DB53-6A9A20D8D7CE}"/>
              </a:ext>
            </a:extLst>
          </p:cNvPr>
          <p:cNvCxnSpPr>
            <a:cxnSpLocks/>
          </p:cNvCxnSpPr>
          <p:nvPr/>
        </p:nvCxnSpPr>
        <p:spPr>
          <a:xfrm flipV="1">
            <a:off x="3940404" y="3566148"/>
            <a:ext cx="423014" cy="15337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15A207D4-B534-A76C-4051-DCF6208B5497}"/>
              </a:ext>
            </a:extLst>
          </p:cNvPr>
          <p:cNvCxnSpPr>
            <a:cxnSpLocks/>
          </p:cNvCxnSpPr>
          <p:nvPr/>
        </p:nvCxnSpPr>
        <p:spPr>
          <a:xfrm flipV="1">
            <a:off x="3940404" y="4138367"/>
            <a:ext cx="1134940" cy="12914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E14CE2F3-04E5-3D43-8AC6-2E7F08418C7C}"/>
              </a:ext>
            </a:extLst>
          </p:cNvPr>
          <p:cNvCxnSpPr>
            <a:cxnSpLocks/>
          </p:cNvCxnSpPr>
          <p:nvPr/>
        </p:nvCxnSpPr>
        <p:spPr>
          <a:xfrm flipV="1">
            <a:off x="3836709" y="4685122"/>
            <a:ext cx="1651647" cy="93325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FCED498-9C3C-96A0-86A1-67FA14995865}"/>
              </a:ext>
            </a:extLst>
          </p:cNvPr>
          <p:cNvSpPr txBox="1"/>
          <p:nvPr/>
        </p:nvSpPr>
        <p:spPr>
          <a:xfrm>
            <a:off x="3987535" y="2827484"/>
            <a:ext cx="3044860" cy="738664"/>
          </a:xfrm>
          <a:prstGeom prst="rect">
            <a:avLst/>
          </a:prstGeom>
          <a:noFill/>
        </p:spPr>
        <p:txBody>
          <a:bodyPr wrap="square" rtlCol="0">
            <a:spAutoFit/>
          </a:bodyPr>
          <a:lstStyle/>
          <a:p>
            <a:pPr algn="ctr"/>
            <a:r>
              <a:rPr lang="en-US" sz="1400" dirty="0"/>
              <a:t>After approx. 25 strikes, Industrial targets settle out to 0.2084, Educational Facilities to 0.2069</a:t>
            </a:r>
          </a:p>
        </p:txBody>
      </p:sp>
      <p:sp>
        <p:nvSpPr>
          <p:cNvPr id="9" name="TextBox 8">
            <a:extLst>
              <a:ext uri="{FF2B5EF4-FFF2-40B4-BE49-F238E27FC236}">
                <a16:creationId xmlns:a16="http://schemas.microsoft.com/office/drawing/2014/main" id="{9F8A0C80-CB44-AB2F-5CCC-FDA079517310}"/>
              </a:ext>
            </a:extLst>
          </p:cNvPr>
          <p:cNvSpPr txBox="1"/>
          <p:nvPr/>
        </p:nvSpPr>
        <p:spPr>
          <a:xfrm>
            <a:off x="4776430" y="3886635"/>
            <a:ext cx="2934987" cy="307777"/>
          </a:xfrm>
          <a:prstGeom prst="rect">
            <a:avLst/>
          </a:prstGeom>
          <a:noFill/>
        </p:spPr>
        <p:txBody>
          <a:bodyPr wrap="square" rtlCol="0">
            <a:spAutoFit/>
          </a:bodyPr>
          <a:lstStyle/>
          <a:p>
            <a:pPr algn="ctr"/>
            <a:r>
              <a:rPr lang="en-US" sz="1400" dirty="0"/>
              <a:t>Electricity Supply targets: 0.1243</a:t>
            </a:r>
          </a:p>
        </p:txBody>
      </p:sp>
      <p:sp>
        <p:nvSpPr>
          <p:cNvPr id="10" name="TextBox 9">
            <a:extLst>
              <a:ext uri="{FF2B5EF4-FFF2-40B4-BE49-F238E27FC236}">
                <a16:creationId xmlns:a16="http://schemas.microsoft.com/office/drawing/2014/main" id="{33FABA17-65A6-9E18-E6CE-59EE9E54C5FC}"/>
              </a:ext>
            </a:extLst>
          </p:cNvPr>
          <p:cNvSpPr txBox="1"/>
          <p:nvPr/>
        </p:nvSpPr>
        <p:spPr>
          <a:xfrm>
            <a:off x="5084771" y="4447126"/>
            <a:ext cx="2934987" cy="523220"/>
          </a:xfrm>
          <a:prstGeom prst="rect">
            <a:avLst/>
          </a:prstGeom>
          <a:noFill/>
        </p:spPr>
        <p:txBody>
          <a:bodyPr wrap="square" rtlCol="0">
            <a:spAutoFit/>
          </a:bodyPr>
          <a:lstStyle/>
          <a:p>
            <a:pPr algn="ctr"/>
            <a:r>
              <a:rPr lang="en-US" sz="1400" dirty="0"/>
              <a:t>Government targets: 0.0849,</a:t>
            </a:r>
          </a:p>
          <a:p>
            <a:pPr algn="ctr"/>
            <a:r>
              <a:rPr lang="en-US" sz="1400" dirty="0"/>
              <a:t>Gas Supply targets: 0.0811</a:t>
            </a:r>
          </a:p>
        </p:txBody>
      </p:sp>
    </p:spTree>
    <p:extLst>
      <p:ext uri="{BB962C8B-B14F-4D97-AF65-F5344CB8AC3E}">
        <p14:creationId xmlns:p14="http://schemas.microsoft.com/office/powerpoint/2010/main" val="16505264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B640E-8E8B-43F5-F171-A6C95073B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210AF-CA57-E2A9-2193-97FF0F1514DA}"/>
              </a:ext>
            </a:extLst>
          </p:cNvPr>
          <p:cNvSpPr>
            <a:spLocks noGrp="1"/>
          </p:cNvSpPr>
          <p:nvPr>
            <p:ph type="title"/>
          </p:nvPr>
        </p:nvSpPr>
        <p:spPr/>
        <p:txBody>
          <a:bodyPr/>
          <a:lstStyle/>
          <a:p>
            <a:r>
              <a:rPr lang="en-US" dirty="0"/>
              <a:t>Results (5) – Infrastructure, Recoded</a:t>
            </a:r>
          </a:p>
        </p:txBody>
      </p:sp>
      <p:graphicFrame>
        <p:nvGraphicFramePr>
          <p:cNvPr id="3" name="Chart 2">
            <a:extLst>
              <a:ext uri="{FF2B5EF4-FFF2-40B4-BE49-F238E27FC236}">
                <a16:creationId xmlns:a16="http://schemas.microsoft.com/office/drawing/2014/main" id="{FDEF4C9D-22C3-4B3D-F90C-A1D2D78FBD2F}"/>
              </a:ext>
            </a:extLst>
          </p:cNvPr>
          <p:cNvGraphicFramePr>
            <a:graphicFrameLocks/>
          </p:cNvGraphicFramePr>
          <p:nvPr>
            <p:extLst>
              <p:ext uri="{D42A27DB-BD31-4B8C-83A1-F6EECF244321}">
                <p14:modId xmlns:p14="http://schemas.microsoft.com/office/powerpoint/2010/main" val="1994951120"/>
              </p:ext>
            </p:extLst>
          </p:nvPr>
        </p:nvGraphicFramePr>
        <p:xfrm>
          <a:off x="905256" y="1307592"/>
          <a:ext cx="10277856" cy="5276088"/>
        </p:xfrm>
        <a:graphic>
          <a:graphicData uri="http://schemas.openxmlformats.org/drawingml/2006/chart">
            <c:chart xmlns:c="http://schemas.openxmlformats.org/drawingml/2006/chart" xmlns:r="http://schemas.openxmlformats.org/officeDocument/2006/relationships" r:id="rId2"/>
          </a:graphicData>
        </a:graphic>
      </p:graphicFrame>
      <p:cxnSp>
        <p:nvCxnSpPr>
          <p:cNvPr id="5" name="Straight Connector 4">
            <a:extLst>
              <a:ext uri="{FF2B5EF4-FFF2-40B4-BE49-F238E27FC236}">
                <a16:creationId xmlns:a16="http://schemas.microsoft.com/office/drawing/2014/main" id="{D1BACA1A-075F-A304-ECAE-DD84825181CE}"/>
              </a:ext>
            </a:extLst>
          </p:cNvPr>
          <p:cNvCxnSpPr>
            <a:cxnSpLocks/>
          </p:cNvCxnSpPr>
          <p:nvPr/>
        </p:nvCxnSpPr>
        <p:spPr>
          <a:xfrm flipV="1">
            <a:off x="4166647" y="3512738"/>
            <a:ext cx="512065" cy="114360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95A97BB8-335D-D269-171B-C26666D1F3AC}"/>
              </a:ext>
            </a:extLst>
          </p:cNvPr>
          <p:cNvCxnSpPr>
            <a:cxnSpLocks/>
          </p:cNvCxnSpPr>
          <p:nvPr/>
        </p:nvCxnSpPr>
        <p:spPr>
          <a:xfrm flipV="1">
            <a:off x="4119514" y="3812143"/>
            <a:ext cx="1380224" cy="11557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4262014-84E7-F267-FE07-8B0DD3D31EF6}"/>
              </a:ext>
            </a:extLst>
          </p:cNvPr>
          <p:cNvCxnSpPr>
            <a:cxnSpLocks/>
          </p:cNvCxnSpPr>
          <p:nvPr/>
        </p:nvCxnSpPr>
        <p:spPr>
          <a:xfrm flipV="1">
            <a:off x="4110087" y="4290919"/>
            <a:ext cx="1838226" cy="798583"/>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6E14A3C-0B5B-0FB8-BB11-165D1D4DBD68}"/>
              </a:ext>
            </a:extLst>
          </p:cNvPr>
          <p:cNvSpPr txBox="1"/>
          <p:nvPr/>
        </p:nvSpPr>
        <p:spPr>
          <a:xfrm>
            <a:off x="4295335" y="3036740"/>
            <a:ext cx="2609621" cy="523220"/>
          </a:xfrm>
          <a:prstGeom prst="rect">
            <a:avLst/>
          </a:prstGeom>
          <a:noFill/>
        </p:spPr>
        <p:txBody>
          <a:bodyPr wrap="square" rtlCol="0">
            <a:spAutoFit/>
          </a:bodyPr>
          <a:lstStyle/>
          <a:p>
            <a:pPr algn="ctr"/>
            <a:r>
              <a:rPr lang="en-US" sz="1400" dirty="0"/>
              <a:t>After approx. 15 strikes, Civilian targets settle out to 0.3234</a:t>
            </a:r>
          </a:p>
        </p:txBody>
      </p:sp>
      <p:sp>
        <p:nvSpPr>
          <p:cNvPr id="20" name="TextBox 19">
            <a:extLst>
              <a:ext uri="{FF2B5EF4-FFF2-40B4-BE49-F238E27FC236}">
                <a16:creationId xmlns:a16="http://schemas.microsoft.com/office/drawing/2014/main" id="{ABA3E727-06D7-7764-F8D2-C9F35219F96C}"/>
              </a:ext>
            </a:extLst>
          </p:cNvPr>
          <p:cNvSpPr txBox="1"/>
          <p:nvPr/>
        </p:nvSpPr>
        <p:spPr>
          <a:xfrm>
            <a:off x="4915715" y="3578421"/>
            <a:ext cx="2934987" cy="307777"/>
          </a:xfrm>
          <a:prstGeom prst="rect">
            <a:avLst/>
          </a:prstGeom>
          <a:noFill/>
        </p:spPr>
        <p:txBody>
          <a:bodyPr wrap="square" rtlCol="0">
            <a:spAutoFit/>
          </a:bodyPr>
          <a:lstStyle/>
          <a:p>
            <a:pPr algn="ctr"/>
            <a:r>
              <a:rPr lang="en-US" sz="1400" dirty="0"/>
              <a:t>Business targets: 0.2427</a:t>
            </a:r>
          </a:p>
        </p:txBody>
      </p:sp>
      <p:sp>
        <p:nvSpPr>
          <p:cNvPr id="23" name="TextBox 22">
            <a:extLst>
              <a:ext uri="{FF2B5EF4-FFF2-40B4-BE49-F238E27FC236}">
                <a16:creationId xmlns:a16="http://schemas.microsoft.com/office/drawing/2014/main" id="{F3D2008E-3E91-11CF-5AF5-C785D29967BE}"/>
              </a:ext>
            </a:extLst>
          </p:cNvPr>
          <p:cNvSpPr txBox="1"/>
          <p:nvPr/>
        </p:nvSpPr>
        <p:spPr>
          <a:xfrm>
            <a:off x="5593817" y="4035122"/>
            <a:ext cx="2934987" cy="307777"/>
          </a:xfrm>
          <a:prstGeom prst="rect">
            <a:avLst/>
          </a:prstGeom>
          <a:noFill/>
        </p:spPr>
        <p:txBody>
          <a:bodyPr wrap="square" rtlCol="0">
            <a:spAutoFit/>
          </a:bodyPr>
          <a:lstStyle/>
          <a:p>
            <a:pPr algn="ctr"/>
            <a:r>
              <a:rPr lang="en-US" sz="1400" dirty="0"/>
              <a:t>Power &amp; Fuel targets: 0.2427</a:t>
            </a:r>
          </a:p>
        </p:txBody>
      </p:sp>
    </p:spTree>
    <p:extLst>
      <p:ext uri="{BB962C8B-B14F-4D97-AF65-F5344CB8AC3E}">
        <p14:creationId xmlns:p14="http://schemas.microsoft.com/office/powerpoint/2010/main" val="3990662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0EFD753D-6A49-46DD-9E82-AA6E2C62B4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138A5824-1F4A-4EE7-BC13-5BB48FC080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0044" y="321732"/>
            <a:ext cx="4568741" cy="6192603"/>
          </a:xfrm>
          <a:prstGeom prst="rect">
            <a:avLst/>
          </a:prstGeom>
          <a:solidFill>
            <a:srgbClr val="33363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CF0BCC4-D731-9BFE-B53D-C5898A46AD3B}"/>
              </a:ext>
            </a:extLst>
          </p:cNvPr>
          <p:cNvSpPr>
            <a:spLocks noGrp="1"/>
          </p:cNvSpPr>
          <p:nvPr>
            <p:ph type="title"/>
          </p:nvPr>
        </p:nvSpPr>
        <p:spPr>
          <a:xfrm>
            <a:off x="798257" y="637523"/>
            <a:ext cx="3608896" cy="1690993"/>
          </a:xfrm>
        </p:spPr>
        <p:txBody>
          <a:bodyPr anchor="b">
            <a:normAutofit/>
          </a:bodyPr>
          <a:lstStyle/>
          <a:p>
            <a:pPr algn="ctr"/>
            <a:r>
              <a:rPr lang="en-US" sz="3600" b="1" dirty="0">
                <a:solidFill>
                  <a:srgbClr val="FFFFFF"/>
                </a:solidFill>
              </a:rPr>
              <a:t>Expansion</a:t>
            </a:r>
            <a:r>
              <a:rPr lang="en-US" sz="3600" dirty="0">
                <a:solidFill>
                  <a:srgbClr val="FFFFFF"/>
                </a:solidFill>
              </a:rPr>
              <a:t> </a:t>
            </a:r>
            <a:br>
              <a:rPr lang="en-US" sz="3600" dirty="0">
                <a:solidFill>
                  <a:srgbClr val="FFFFFF"/>
                </a:solidFill>
              </a:rPr>
            </a:br>
            <a:r>
              <a:rPr lang="en-US" sz="3600" dirty="0">
                <a:solidFill>
                  <a:srgbClr val="FFFFFF"/>
                </a:solidFill>
              </a:rPr>
              <a:t>(geo data)</a:t>
            </a:r>
          </a:p>
        </p:txBody>
      </p:sp>
      <p:pic>
        <p:nvPicPr>
          <p:cNvPr id="22" name="Picture 21" descr="A graph showing a number of people in a line&#10;&#10;AI-generated content may be incorrect.">
            <a:extLst>
              <a:ext uri="{FF2B5EF4-FFF2-40B4-BE49-F238E27FC236}">
                <a16:creationId xmlns:a16="http://schemas.microsoft.com/office/drawing/2014/main" id="{3D7A9204-4703-1084-5322-BBC67011B0D0}"/>
              </a:ext>
            </a:extLst>
          </p:cNvPr>
          <p:cNvPicPr>
            <a:picLocks noChangeAspect="1"/>
          </p:cNvPicPr>
          <p:nvPr/>
        </p:nvPicPr>
        <p:blipFill>
          <a:blip r:embed="rId2"/>
          <a:srcRect l="13510"/>
          <a:stretch>
            <a:fillRect/>
          </a:stretch>
        </p:blipFill>
        <p:spPr>
          <a:xfrm>
            <a:off x="5045779" y="325905"/>
            <a:ext cx="2249424" cy="2002611"/>
          </a:xfrm>
          <a:prstGeom prst="rect">
            <a:avLst/>
          </a:prstGeom>
        </p:spPr>
      </p:pic>
      <p:sp>
        <p:nvSpPr>
          <p:cNvPr id="3" name="Content Placeholder 2">
            <a:extLst>
              <a:ext uri="{FF2B5EF4-FFF2-40B4-BE49-F238E27FC236}">
                <a16:creationId xmlns:a16="http://schemas.microsoft.com/office/drawing/2014/main" id="{5C7FB829-E160-ACDE-1ADB-B6AB9B3D8DA0}"/>
              </a:ext>
            </a:extLst>
          </p:cNvPr>
          <p:cNvSpPr>
            <a:spLocks noGrp="1"/>
          </p:cNvSpPr>
          <p:nvPr>
            <p:ph idx="1"/>
          </p:nvPr>
        </p:nvSpPr>
        <p:spPr>
          <a:xfrm>
            <a:off x="798256" y="2474260"/>
            <a:ext cx="3607930" cy="3677158"/>
          </a:xfrm>
        </p:spPr>
        <p:txBody>
          <a:bodyPr anchor="t">
            <a:normAutofit/>
          </a:bodyPr>
          <a:lstStyle/>
          <a:p>
            <a:r>
              <a:rPr lang="en-US" sz="2000" dirty="0">
                <a:solidFill>
                  <a:srgbClr val="FFFFFF"/>
                </a:solidFill>
              </a:rPr>
              <a:t>Visualizing the probabilities across Oblasts (states) after t number of strikes</a:t>
            </a:r>
          </a:p>
          <a:p>
            <a:r>
              <a:rPr lang="en-US" sz="2000" dirty="0">
                <a:solidFill>
                  <a:srgbClr val="FFFFFF"/>
                </a:solidFill>
              </a:rPr>
              <a:t>Visualization and geocoding completed via </a:t>
            </a:r>
            <a:r>
              <a:rPr lang="en-US" sz="2000" dirty="0" err="1">
                <a:solidFill>
                  <a:srgbClr val="FFFFFF"/>
                </a:solidFill>
              </a:rPr>
              <a:t>Geopandas</a:t>
            </a:r>
            <a:r>
              <a:rPr lang="en-US" sz="2000" dirty="0">
                <a:solidFill>
                  <a:srgbClr val="FFFFFF"/>
                </a:solidFill>
              </a:rPr>
              <a:t> package and QGIS</a:t>
            </a:r>
          </a:p>
        </p:txBody>
      </p:sp>
      <p:pic>
        <p:nvPicPr>
          <p:cNvPr id="7" name="Picture 6">
            <a:extLst>
              <a:ext uri="{FF2B5EF4-FFF2-40B4-BE49-F238E27FC236}">
                <a16:creationId xmlns:a16="http://schemas.microsoft.com/office/drawing/2014/main" id="{6A73C814-6572-F954-0E97-36D370FADCD6}"/>
              </a:ext>
            </a:extLst>
          </p:cNvPr>
          <p:cNvPicPr>
            <a:picLocks noChangeAspect="1"/>
          </p:cNvPicPr>
          <p:nvPr/>
        </p:nvPicPr>
        <p:blipFill>
          <a:blip r:embed="rId3"/>
          <a:srcRect l="19125" r="7" b="7"/>
          <a:stretch>
            <a:fillRect/>
          </a:stretch>
        </p:blipFill>
        <p:spPr>
          <a:xfrm>
            <a:off x="5084726" y="2381974"/>
            <a:ext cx="2249424" cy="2002611"/>
          </a:xfrm>
          <a:prstGeom prst="rect">
            <a:avLst/>
          </a:prstGeom>
        </p:spPr>
      </p:pic>
      <p:pic>
        <p:nvPicPr>
          <p:cNvPr id="11" name="Picture 10">
            <a:extLst>
              <a:ext uri="{FF2B5EF4-FFF2-40B4-BE49-F238E27FC236}">
                <a16:creationId xmlns:a16="http://schemas.microsoft.com/office/drawing/2014/main" id="{18AA9910-4EF0-5E18-872E-08C66D7E6DC1}"/>
              </a:ext>
            </a:extLst>
          </p:cNvPr>
          <p:cNvPicPr>
            <a:picLocks noChangeAspect="1"/>
          </p:cNvPicPr>
          <p:nvPr/>
        </p:nvPicPr>
        <p:blipFill>
          <a:blip r:embed="rId4"/>
          <a:srcRect r="3" b="8439"/>
          <a:stretch>
            <a:fillRect/>
          </a:stretch>
        </p:blipFill>
        <p:spPr>
          <a:xfrm>
            <a:off x="4554497" y="4438043"/>
            <a:ext cx="2789100" cy="1870657"/>
          </a:xfrm>
          <a:prstGeom prst="rect">
            <a:avLst/>
          </a:prstGeom>
        </p:spPr>
      </p:pic>
      <p:pic>
        <p:nvPicPr>
          <p:cNvPr id="17" name="Picture 16">
            <a:extLst>
              <a:ext uri="{FF2B5EF4-FFF2-40B4-BE49-F238E27FC236}">
                <a16:creationId xmlns:a16="http://schemas.microsoft.com/office/drawing/2014/main" id="{73E7E259-1F56-AB60-F195-D7CC6F726AF4}"/>
              </a:ext>
            </a:extLst>
          </p:cNvPr>
          <p:cNvPicPr>
            <a:picLocks noChangeAspect="1"/>
          </p:cNvPicPr>
          <p:nvPr/>
        </p:nvPicPr>
        <p:blipFill>
          <a:blip r:embed="rId5"/>
          <a:srcRect l="15754" r="-2" b="-2"/>
          <a:stretch>
            <a:fillRect/>
          </a:stretch>
        </p:blipFill>
        <p:spPr>
          <a:xfrm>
            <a:off x="8026372" y="56621"/>
            <a:ext cx="3839508" cy="3418099"/>
          </a:xfrm>
          <a:prstGeom prst="rect">
            <a:avLst/>
          </a:prstGeom>
        </p:spPr>
      </p:pic>
      <p:pic>
        <p:nvPicPr>
          <p:cNvPr id="21" name="Picture 20">
            <a:extLst>
              <a:ext uri="{FF2B5EF4-FFF2-40B4-BE49-F238E27FC236}">
                <a16:creationId xmlns:a16="http://schemas.microsoft.com/office/drawing/2014/main" id="{A67F8B95-0349-3E0A-42C6-A5A83207CC5F}"/>
              </a:ext>
            </a:extLst>
          </p:cNvPr>
          <p:cNvPicPr>
            <a:picLocks noChangeAspect="1"/>
          </p:cNvPicPr>
          <p:nvPr/>
        </p:nvPicPr>
        <p:blipFill>
          <a:blip r:embed="rId6"/>
          <a:srcRect r="3" b="8800"/>
          <a:stretch>
            <a:fillRect/>
          </a:stretch>
        </p:blipFill>
        <p:spPr>
          <a:xfrm>
            <a:off x="7295203" y="3474720"/>
            <a:ext cx="4570677" cy="3053487"/>
          </a:xfrm>
          <a:prstGeom prst="rect">
            <a:avLst/>
          </a:prstGeom>
        </p:spPr>
      </p:pic>
    </p:spTree>
    <p:extLst>
      <p:ext uri="{BB962C8B-B14F-4D97-AF65-F5344CB8AC3E}">
        <p14:creationId xmlns:p14="http://schemas.microsoft.com/office/powerpoint/2010/main" val="1713706811"/>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5F7B1-13B8-2567-F991-6BD6E2664DF5}"/>
              </a:ext>
            </a:extLst>
          </p:cNvPr>
          <p:cNvSpPr>
            <a:spLocks noGrp="1"/>
          </p:cNvSpPr>
          <p:nvPr>
            <p:ph type="title"/>
          </p:nvPr>
        </p:nvSpPr>
        <p:spPr>
          <a:xfrm>
            <a:off x="876693" y="741391"/>
            <a:ext cx="3449122" cy="1616203"/>
          </a:xfrm>
        </p:spPr>
        <p:txBody>
          <a:bodyPr anchor="b">
            <a:normAutofit/>
          </a:bodyPr>
          <a:lstStyle/>
          <a:p>
            <a:endParaRPr lang="en-US" sz="3200"/>
          </a:p>
        </p:txBody>
      </p:sp>
      <p:sp>
        <p:nvSpPr>
          <p:cNvPr id="3" name="Content Placeholder 2">
            <a:extLst>
              <a:ext uri="{FF2B5EF4-FFF2-40B4-BE49-F238E27FC236}">
                <a16:creationId xmlns:a16="http://schemas.microsoft.com/office/drawing/2014/main" id="{225B396C-12B4-0F1E-A3C1-A937441A70A3}"/>
              </a:ext>
            </a:extLst>
          </p:cNvPr>
          <p:cNvSpPr>
            <a:spLocks noGrp="1"/>
          </p:cNvSpPr>
          <p:nvPr>
            <p:ph idx="1"/>
          </p:nvPr>
        </p:nvSpPr>
        <p:spPr>
          <a:xfrm>
            <a:off x="876693" y="2533476"/>
            <a:ext cx="3449122" cy="3447832"/>
          </a:xfrm>
        </p:spPr>
        <p:txBody>
          <a:bodyPr anchor="t">
            <a:normAutofit/>
          </a:bodyPr>
          <a:lstStyle/>
          <a:p>
            <a:endParaRPr lang="en-US" sz="2000"/>
          </a:p>
        </p:txBody>
      </p:sp>
      <p:pic>
        <p:nvPicPr>
          <p:cNvPr id="7" name="Picture 6" descr="A map of different colors&#10;&#10;AI-generated content may be incorrect.">
            <a:extLst>
              <a:ext uri="{FF2B5EF4-FFF2-40B4-BE49-F238E27FC236}">
                <a16:creationId xmlns:a16="http://schemas.microsoft.com/office/drawing/2014/main" id="{A5416BC4-65C9-4541-E922-03BA41D3B6D7}"/>
              </a:ext>
            </a:extLst>
          </p:cNvPr>
          <p:cNvPicPr>
            <a:picLocks noChangeAspect="1"/>
          </p:cNvPicPr>
          <p:nvPr/>
        </p:nvPicPr>
        <p:blipFill>
          <a:blip r:embed="rId2"/>
          <a:srcRect b="1968"/>
          <a:stretch>
            <a:fillRect/>
          </a:stretch>
        </p:blipFill>
        <p:spPr>
          <a:xfrm>
            <a:off x="5065566" y="10"/>
            <a:ext cx="7032825" cy="5101829"/>
          </a:xfrm>
          <a:prstGeom prst="rect">
            <a:avLst/>
          </a:prstGeom>
        </p:spPr>
      </p:pic>
      <p:sp>
        <p:nvSpPr>
          <p:cNvPr id="12" name="Rectangle 11">
            <a:extLst>
              <a:ext uri="{FF2B5EF4-FFF2-40B4-BE49-F238E27FC236}">
                <a16:creationId xmlns:a16="http://schemas.microsoft.com/office/drawing/2014/main" id="{4DD35268-6FBE-0BCD-C050-3F804C7C54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2068597" y="0"/>
            <a:ext cx="123401" cy="3290157"/>
          </a:xfrm>
          <a:prstGeom prst="rect">
            <a:avLst/>
          </a:prstGeom>
          <a:gradFill>
            <a:gsLst>
              <a:gs pos="20000">
                <a:schemeClr val="accent3">
                  <a:alpha val="0"/>
                </a:schemeClr>
              </a:gs>
              <a:gs pos="100000">
                <a:schemeClr val="accent3">
                  <a:lumMod val="60000"/>
                  <a:lumOff val="40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graph showing a number of people in a line&#10;&#10;AI-generated content may be incorrect.">
            <a:extLst>
              <a:ext uri="{FF2B5EF4-FFF2-40B4-BE49-F238E27FC236}">
                <a16:creationId xmlns:a16="http://schemas.microsoft.com/office/drawing/2014/main" id="{7DD3F99B-C10E-D8CA-D4CF-DDC4DF9EF371}"/>
              </a:ext>
            </a:extLst>
          </p:cNvPr>
          <p:cNvPicPr>
            <a:picLocks noChangeAspect="1"/>
          </p:cNvPicPr>
          <p:nvPr/>
        </p:nvPicPr>
        <p:blipFill>
          <a:blip r:embed="rId3"/>
          <a:srcRect r="-4" b="3063"/>
          <a:stretch>
            <a:fillRect/>
          </a:stretch>
        </p:blipFill>
        <p:spPr>
          <a:xfrm>
            <a:off x="5065566" y="5101838"/>
            <a:ext cx="2352899" cy="1756162"/>
          </a:xfrm>
          <a:prstGeom prst="rect">
            <a:avLst/>
          </a:prstGeom>
        </p:spPr>
      </p:pic>
      <p:pic>
        <p:nvPicPr>
          <p:cNvPr id="6" name="Picture 5" descr="A map of different colors&#10;&#10;AI-generated content may be incorrect.">
            <a:extLst>
              <a:ext uri="{FF2B5EF4-FFF2-40B4-BE49-F238E27FC236}">
                <a16:creationId xmlns:a16="http://schemas.microsoft.com/office/drawing/2014/main" id="{599C9AB3-565F-2A8E-1E9A-DE361E13B4D5}"/>
              </a:ext>
            </a:extLst>
          </p:cNvPr>
          <p:cNvPicPr>
            <a:picLocks noChangeAspect="1"/>
          </p:cNvPicPr>
          <p:nvPr/>
        </p:nvPicPr>
        <p:blipFill>
          <a:blip r:embed="rId4"/>
          <a:srcRect l="1190" r="-2" b="-2"/>
          <a:stretch>
            <a:fillRect/>
          </a:stretch>
        </p:blipFill>
        <p:spPr>
          <a:xfrm>
            <a:off x="7409472" y="5101838"/>
            <a:ext cx="2352899" cy="1756162"/>
          </a:xfrm>
          <a:prstGeom prst="rect">
            <a:avLst/>
          </a:prstGeom>
        </p:spPr>
      </p:pic>
      <p:pic>
        <p:nvPicPr>
          <p:cNvPr id="4" name="Picture 3" descr="A map of different colors&#10;&#10;AI-generated content may be incorrect.">
            <a:extLst>
              <a:ext uri="{FF2B5EF4-FFF2-40B4-BE49-F238E27FC236}">
                <a16:creationId xmlns:a16="http://schemas.microsoft.com/office/drawing/2014/main" id="{2C5546CC-BE63-F788-CC46-4FC589708875}"/>
              </a:ext>
            </a:extLst>
          </p:cNvPr>
          <p:cNvPicPr>
            <a:picLocks noChangeAspect="1"/>
          </p:cNvPicPr>
          <p:nvPr/>
        </p:nvPicPr>
        <p:blipFill>
          <a:blip r:embed="rId5"/>
          <a:srcRect l="1525" r="-6" b="-6"/>
          <a:stretch>
            <a:fillRect/>
          </a:stretch>
        </p:blipFill>
        <p:spPr>
          <a:xfrm>
            <a:off x="9762371" y="5101838"/>
            <a:ext cx="2352899" cy="1756162"/>
          </a:xfrm>
          <a:prstGeom prst="rect">
            <a:avLst/>
          </a:prstGeom>
        </p:spPr>
      </p:pic>
      <p:grpSp>
        <p:nvGrpSpPr>
          <p:cNvPr id="14" name="Group 13">
            <a:extLst>
              <a:ext uri="{FF2B5EF4-FFF2-40B4-BE49-F238E27FC236}">
                <a16:creationId xmlns:a16="http://schemas.microsoft.com/office/drawing/2014/main" id="{03E85085-5390-83A9-2396-021E06F7C01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5" name="Rectangle 14">
              <a:extLst>
                <a:ext uri="{FF2B5EF4-FFF2-40B4-BE49-F238E27FC236}">
                  <a16:creationId xmlns:a16="http://schemas.microsoft.com/office/drawing/2014/main" id="{CE72D198-285A-E9EC-E1A0-31F8CF3CEC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831DFC4-DDB5-2721-FD99-03D64F1BD5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34000">
                  <a:schemeClr val="accent5">
                    <a:alpha val="0"/>
                  </a:schemeClr>
                </a:gs>
                <a:gs pos="100000">
                  <a:schemeClr val="accent5">
                    <a:lumMod val="60000"/>
                    <a:lumOff val="40000"/>
                    <a:alpha val="73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4278291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1633</TotalTime>
  <Words>428</Words>
  <Application>Microsoft Office PowerPoint</Application>
  <PresentationFormat>Widescreen</PresentationFormat>
  <Paragraphs>69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Project NOBLE</vt:lpstr>
      <vt:lpstr>Notes</vt:lpstr>
      <vt:lpstr>Target Variables</vt:lpstr>
      <vt:lpstr>Markov Transition Heatmap</vt:lpstr>
      <vt:lpstr>Rayon Heatmap</vt:lpstr>
      <vt:lpstr>Results</vt:lpstr>
      <vt:lpstr>Results (2) - Oblasts</vt:lpstr>
      <vt:lpstr>Results (3) - Rayons</vt:lpstr>
      <vt:lpstr>Results (4) - Infrastructure</vt:lpstr>
      <vt:lpstr>Results (5) – Infrastructure, Recoded</vt:lpstr>
      <vt:lpstr>Expansion  (geo data)</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Ryan Dallas</dc:creator>
  <cp:lastModifiedBy>Hannah Egl</cp:lastModifiedBy>
  <cp:revision>8</cp:revision>
  <dcterms:created xsi:type="dcterms:W3CDTF">2025-11-12T02:18:14Z</dcterms:created>
  <dcterms:modified xsi:type="dcterms:W3CDTF">2025-11-13T15:11:15Z</dcterms:modified>
</cp:coreProperties>
</file>