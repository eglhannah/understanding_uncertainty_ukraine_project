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
      <p:font typeface="Canva Sans" charset="1" panose="020B05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27027" y="-65545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0293" y="8876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70C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4468294">
            <a:off x="15976693" y="5500275"/>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4468294">
            <a:off x="16917994" y="7876328"/>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70C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033112" y="3018978"/>
            <a:ext cx="8221776"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Project NOBLE</a:t>
            </a:r>
          </a:p>
        </p:txBody>
      </p:sp>
      <p:sp>
        <p:nvSpPr>
          <p:cNvPr name="TextBox 15" id="15"/>
          <p:cNvSpPr txBox="true"/>
          <p:nvPr/>
        </p:nvSpPr>
        <p:spPr>
          <a:xfrm rot="0">
            <a:off x="2609903" y="5414197"/>
            <a:ext cx="13010014" cy="3618865"/>
          </a:xfrm>
          <a:prstGeom prst="rect">
            <a:avLst/>
          </a:prstGeom>
        </p:spPr>
        <p:txBody>
          <a:bodyPr anchor="t" rtlCol="false" tIns="0" lIns="0" bIns="0" rIns="0">
            <a:spAutoFit/>
          </a:bodyPr>
          <a:lstStyle/>
          <a:p>
            <a:pPr algn="ctr">
              <a:lnSpc>
                <a:spcPts val="4759"/>
              </a:lnSpc>
            </a:pPr>
            <a:r>
              <a:rPr lang="en-US" sz="3399" b="true">
                <a:solidFill>
                  <a:srgbClr val="000000"/>
                </a:solidFill>
                <a:latin typeface="Poppins Bold"/>
                <a:ea typeface="Poppins Bold"/>
                <a:cs typeface="Poppins Bold"/>
                <a:sym typeface="Poppins Bold"/>
              </a:rPr>
              <a:t>Projecting Strikes </a:t>
            </a:r>
            <a:r>
              <a:rPr lang="en-US" b="true" sz="3399">
                <a:solidFill>
                  <a:srgbClr val="000000"/>
                </a:solidFill>
                <a:latin typeface="Poppins Bold"/>
                <a:ea typeface="Poppins Bold"/>
                <a:cs typeface="Poppins Bold"/>
                <a:sym typeface="Poppins Bold"/>
              </a:rPr>
              <a:t>Against Ukrainian Infrastructure with Markov Transitions</a:t>
            </a:r>
          </a:p>
          <a:p>
            <a:pPr algn="ctr">
              <a:lnSpc>
                <a:spcPts val="4759"/>
              </a:lnSpc>
            </a:pPr>
          </a:p>
          <a:p>
            <a:pPr algn="ctr">
              <a:lnSpc>
                <a:spcPts val="4759"/>
              </a:lnSpc>
            </a:pPr>
            <a:r>
              <a:rPr lang="en-US" sz="3399">
                <a:solidFill>
                  <a:srgbClr val="000000"/>
                </a:solidFill>
                <a:latin typeface="Poppins"/>
                <a:ea typeface="Poppins"/>
                <a:cs typeface="Poppins"/>
                <a:sym typeface="Poppins"/>
              </a:rPr>
              <a:t>Earp, Mason, Dallas, Ryan</a:t>
            </a:r>
          </a:p>
          <a:p>
            <a:pPr algn="ctr">
              <a:lnSpc>
                <a:spcPts val="4759"/>
              </a:lnSpc>
            </a:pPr>
            <a:r>
              <a:rPr lang="en-US" sz="3399">
                <a:solidFill>
                  <a:srgbClr val="000000"/>
                </a:solidFill>
                <a:latin typeface="Poppins"/>
                <a:ea typeface="Poppins"/>
                <a:cs typeface="Poppins"/>
                <a:sym typeface="Poppins"/>
              </a:rPr>
              <a:t>Egl, Hannah Lumpkin, Bree</a:t>
            </a:r>
          </a:p>
          <a:p>
            <a:pPr algn="ctr">
              <a:lnSpc>
                <a:spcPts val="4759"/>
              </a:lnSpc>
            </a:pP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85224" y="1285184"/>
            <a:ext cx="3086100" cy="9303499"/>
            <a:chOff x="0" y="0"/>
            <a:chExt cx="812800" cy="2450304"/>
          </a:xfrm>
        </p:grpSpPr>
        <p:sp>
          <p:nvSpPr>
            <p:cNvPr name="Freeform 3" id="3"/>
            <p:cNvSpPr/>
            <p:nvPr/>
          </p:nvSpPr>
          <p:spPr>
            <a:xfrm flipH="false" flipV="false" rot="0">
              <a:off x="0" y="0"/>
              <a:ext cx="812800" cy="2450304"/>
            </a:xfrm>
            <a:custGeom>
              <a:avLst/>
              <a:gdLst/>
              <a:ahLst/>
              <a:cxnLst/>
              <a:rect r="r" b="b" t="t" l="l"/>
              <a:pathLst>
                <a:path h="2450304" w="812800">
                  <a:moveTo>
                    <a:pt x="127941" y="0"/>
                  </a:moveTo>
                  <a:lnTo>
                    <a:pt x="684859" y="0"/>
                  </a:lnTo>
                  <a:cubicBezTo>
                    <a:pt x="718791" y="0"/>
                    <a:pt x="751333" y="13479"/>
                    <a:pt x="775327" y="37473"/>
                  </a:cubicBezTo>
                  <a:cubicBezTo>
                    <a:pt x="799321" y="61467"/>
                    <a:pt x="812800" y="94009"/>
                    <a:pt x="812800" y="127941"/>
                  </a:cubicBezTo>
                  <a:lnTo>
                    <a:pt x="812800" y="2322364"/>
                  </a:lnTo>
                  <a:cubicBezTo>
                    <a:pt x="812800" y="2356296"/>
                    <a:pt x="799321" y="2388838"/>
                    <a:pt x="775327" y="2412831"/>
                  </a:cubicBezTo>
                  <a:cubicBezTo>
                    <a:pt x="751333" y="2436825"/>
                    <a:pt x="718791" y="2450304"/>
                    <a:pt x="684859" y="2450304"/>
                  </a:cubicBezTo>
                  <a:lnTo>
                    <a:pt x="127941" y="2450304"/>
                  </a:lnTo>
                  <a:cubicBezTo>
                    <a:pt x="94009" y="2450304"/>
                    <a:pt x="61467" y="2436825"/>
                    <a:pt x="37473" y="2412831"/>
                  </a:cubicBezTo>
                  <a:cubicBezTo>
                    <a:pt x="13479" y="2388838"/>
                    <a:pt x="0" y="2356296"/>
                    <a:pt x="0" y="2322364"/>
                  </a:cubicBezTo>
                  <a:lnTo>
                    <a:pt x="0" y="127941"/>
                  </a:lnTo>
                  <a:cubicBezTo>
                    <a:pt x="0" y="94009"/>
                    <a:pt x="13479" y="61467"/>
                    <a:pt x="37473" y="37473"/>
                  </a:cubicBezTo>
                  <a:cubicBezTo>
                    <a:pt x="61467" y="13479"/>
                    <a:pt x="94009" y="0"/>
                    <a:pt x="127941" y="0"/>
                  </a:cubicBezTo>
                  <a:close/>
                </a:path>
              </a:pathLst>
            </a:custGeom>
            <a:solidFill>
              <a:srgbClr val="2470C9"/>
            </a:solidFill>
          </p:spPr>
        </p:sp>
        <p:sp>
          <p:nvSpPr>
            <p:cNvPr name="TextBox 4" id="4"/>
            <p:cNvSpPr txBox="true"/>
            <p:nvPr/>
          </p:nvSpPr>
          <p:spPr>
            <a:xfrm>
              <a:off x="0" y="-38100"/>
              <a:ext cx="812800" cy="248840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342063" y="429682"/>
            <a:ext cx="3800730"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Notes:</a:t>
            </a:r>
          </a:p>
        </p:txBody>
      </p:sp>
      <p:grpSp>
        <p:nvGrpSpPr>
          <p:cNvPr name="Group 6" id="6"/>
          <p:cNvGrpSpPr/>
          <p:nvPr/>
        </p:nvGrpSpPr>
        <p:grpSpPr>
          <a:xfrm rot="0">
            <a:off x="4124707" y="2348082"/>
            <a:ext cx="13803960" cy="9303499"/>
            <a:chOff x="0" y="0"/>
            <a:chExt cx="3635611" cy="2450304"/>
          </a:xfrm>
        </p:grpSpPr>
        <p:sp>
          <p:nvSpPr>
            <p:cNvPr name="Freeform 7" id="7"/>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8" id="8"/>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732276" y="3618382"/>
            <a:ext cx="12047488" cy="4967605"/>
          </a:xfrm>
          <a:prstGeom prst="rect">
            <a:avLst/>
          </a:prstGeom>
        </p:spPr>
        <p:txBody>
          <a:bodyPr anchor="t" rtlCol="false" tIns="0" lIns="0" bIns="0" rIns="0">
            <a:spAutoFit/>
          </a:bodyPr>
          <a:lstStyle/>
          <a:p>
            <a:pPr algn="l">
              <a:lnSpc>
                <a:spcPts val="3919"/>
              </a:lnSpc>
            </a:pPr>
            <a:r>
              <a:rPr lang="en-US" sz="2799">
                <a:solidFill>
                  <a:srgbClr val="000000"/>
                </a:solidFill>
                <a:latin typeface="Poppins"/>
                <a:ea typeface="Poppins"/>
                <a:cs typeface="Poppins"/>
                <a:sym typeface="Poppins"/>
              </a:rPr>
              <a:t>•The full code, all matrices and tables, </a:t>
            </a:r>
            <a:r>
              <a:rPr lang="en-US" sz="2799">
                <a:solidFill>
                  <a:srgbClr val="000000"/>
                </a:solidFill>
                <a:latin typeface="Poppins"/>
                <a:ea typeface="Poppins"/>
                <a:cs typeface="Poppins"/>
                <a:sym typeface="Poppins"/>
              </a:rPr>
              <a:t>and answers to the prompted questions can be found in the accompanying Jupyter notebook.</a:t>
            </a:r>
          </a:p>
          <a:p>
            <a:pPr algn="l">
              <a:lnSpc>
                <a:spcPts val="3919"/>
              </a:lnSpc>
            </a:pPr>
          </a:p>
          <a:p>
            <a:pPr algn="l">
              <a:lnSpc>
                <a:spcPts val="3919"/>
              </a:lnSpc>
            </a:pPr>
            <a:r>
              <a:rPr lang="en-US" sz="2799">
                <a:solidFill>
                  <a:srgbClr val="000000"/>
                </a:solidFill>
                <a:latin typeface="Poppins"/>
                <a:ea typeface="Poppins"/>
                <a:cs typeface="Poppins"/>
                <a:sym typeface="Poppins"/>
              </a:rPr>
              <a:t>•Claude was used to troubleshoot code, but no code written by Claude was used for the simulation (i.e., code written by Claude for troubleshooting was removed after bugs were identified). Therefore, Claude’s only influence is the adjustment of pre-existing code originally based on Assignment 5 and course content downloaded from the course GitHub.</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38447" y="2879970"/>
            <a:ext cx="14794629" cy="5381546"/>
          </a:xfrm>
          <a:custGeom>
            <a:avLst/>
            <a:gdLst/>
            <a:ahLst/>
            <a:cxnLst/>
            <a:rect r="r" b="b" t="t" l="l"/>
            <a:pathLst>
              <a:path h="5381546" w="14794629">
                <a:moveTo>
                  <a:pt x="0" y="0"/>
                </a:moveTo>
                <a:lnTo>
                  <a:pt x="14794630" y="0"/>
                </a:lnTo>
                <a:lnTo>
                  <a:pt x="14794630" y="5381546"/>
                </a:lnTo>
                <a:lnTo>
                  <a:pt x="0" y="5381546"/>
                </a:lnTo>
                <a:lnTo>
                  <a:pt x="0" y="0"/>
                </a:lnTo>
                <a:close/>
              </a:path>
            </a:pathLst>
          </a:custGeom>
          <a:blipFill>
            <a:blip r:embed="rId2"/>
            <a:stretch>
              <a:fillRect l="0" t="0" r="0" b="0"/>
            </a:stretch>
          </a:blipFill>
        </p:spPr>
      </p:sp>
      <p:sp>
        <p:nvSpPr>
          <p:cNvPr name="TextBox 6" id="6"/>
          <p:cNvSpPr txBox="true"/>
          <p:nvPr/>
        </p:nvSpPr>
        <p:spPr>
          <a:xfrm rot="0">
            <a:off x="4750495" y="325625"/>
            <a:ext cx="9170534"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Data Summary</a:t>
            </a:r>
          </a:p>
        </p:txBody>
      </p:sp>
      <p:sp>
        <p:nvSpPr>
          <p:cNvPr name="TextBox 7" id="7"/>
          <p:cNvSpPr txBox="true"/>
          <p:nvPr/>
        </p:nvSpPr>
        <p:spPr>
          <a:xfrm rot="0">
            <a:off x="1234537" y="8509166"/>
            <a:ext cx="16024763" cy="1172845"/>
          </a:xfrm>
          <a:prstGeom prst="rect">
            <a:avLst/>
          </a:prstGeom>
        </p:spPr>
        <p:txBody>
          <a:bodyPr anchor="t" rtlCol="false" tIns="0" lIns="0" bIns="0" rIns="0">
            <a:spAutoFit/>
          </a:bodyPr>
          <a:lstStyle/>
          <a:p>
            <a:pPr algn="ctr">
              <a:lnSpc>
                <a:spcPts val="3079"/>
              </a:lnSpc>
              <a:spcBef>
                <a:spcPct val="0"/>
              </a:spcBef>
            </a:pPr>
            <a:r>
              <a:rPr lang="en-US" sz="2199">
                <a:solidFill>
                  <a:srgbClr val="FFDE59"/>
                </a:solidFill>
                <a:latin typeface="Poppins"/>
                <a:ea typeface="Poppins"/>
                <a:cs typeface="Poppins"/>
                <a:sym typeface="Poppins"/>
              </a:rPr>
              <a:t>This analysis models the sequence of infrastructure damage in Ukraine. Its not just the volume attacks, but their order and progression overtime , specifically, whether an attack in one location or one type of infrastucture increases the probability of the next attack occuring in another location or on another specific type.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487755" y="330462"/>
            <a:ext cx="10012902"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Target Variables</a:t>
            </a:r>
          </a:p>
        </p:txBody>
      </p:sp>
      <p:grpSp>
        <p:nvGrpSpPr>
          <p:cNvPr name="Group 3" id="3"/>
          <p:cNvGrpSpPr/>
          <p:nvPr/>
        </p:nvGrpSpPr>
        <p:grpSpPr>
          <a:xfrm rot="0">
            <a:off x="2251368" y="3600450"/>
            <a:ext cx="3086100" cy="30861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5" id="5"/>
            <p:cNvSpPr txBox="true"/>
            <p:nvPr/>
          </p:nvSpPr>
          <p:spPr>
            <a:xfrm>
              <a:off x="76200" y="-47625"/>
              <a:ext cx="660400" cy="784225"/>
            </a:xfrm>
            <a:prstGeom prst="rect">
              <a:avLst/>
            </a:prstGeom>
          </p:spPr>
          <p:txBody>
            <a:bodyPr anchor="ctr" rtlCol="false" tIns="50800" lIns="50800" bIns="50800" rIns="50800"/>
            <a:lstStyle/>
            <a:p>
              <a:pPr algn="ctr">
                <a:lnSpc>
                  <a:spcPts val="6299"/>
                </a:lnSpc>
              </a:pPr>
              <a:r>
                <a:rPr lang="en-US" b="true" sz="4499">
                  <a:solidFill>
                    <a:srgbClr val="000000"/>
                  </a:solidFill>
                  <a:latin typeface="Poppins Bold"/>
                  <a:ea typeface="Poppins Bold"/>
                  <a:cs typeface="Poppins Bold"/>
                  <a:sym typeface="Poppins Bold"/>
                </a:rPr>
                <a:t>Oblast</a:t>
              </a:r>
            </a:p>
          </p:txBody>
        </p:sp>
      </p:grpSp>
      <p:grpSp>
        <p:nvGrpSpPr>
          <p:cNvPr name="Group 6" id="6"/>
          <p:cNvGrpSpPr/>
          <p:nvPr/>
        </p:nvGrpSpPr>
        <p:grpSpPr>
          <a:xfrm rot="0">
            <a:off x="1028700" y="6202701"/>
            <a:ext cx="5531437" cy="2639371"/>
            <a:chOff x="0" y="0"/>
            <a:chExt cx="1456839" cy="695143"/>
          </a:xfrm>
        </p:grpSpPr>
        <p:sp>
          <p:nvSpPr>
            <p:cNvPr name="Freeform 7" id="7"/>
            <p:cNvSpPr/>
            <p:nvPr/>
          </p:nvSpPr>
          <p:spPr>
            <a:xfrm flipH="false" flipV="false" rot="0">
              <a:off x="0" y="0"/>
              <a:ext cx="1456839" cy="695143"/>
            </a:xfrm>
            <a:custGeom>
              <a:avLst/>
              <a:gdLst/>
              <a:ahLst/>
              <a:cxnLst/>
              <a:rect r="r" b="b" t="t" l="l"/>
              <a:pathLst>
                <a:path h="695143" w="1456839">
                  <a:moveTo>
                    <a:pt x="71381" y="0"/>
                  </a:moveTo>
                  <a:lnTo>
                    <a:pt x="1385459" y="0"/>
                  </a:lnTo>
                  <a:cubicBezTo>
                    <a:pt x="1424881" y="0"/>
                    <a:pt x="1456839" y="31958"/>
                    <a:pt x="1456839" y="71381"/>
                  </a:cubicBezTo>
                  <a:lnTo>
                    <a:pt x="1456839" y="623762"/>
                  </a:lnTo>
                  <a:cubicBezTo>
                    <a:pt x="1456839" y="642694"/>
                    <a:pt x="1449319" y="660850"/>
                    <a:pt x="1435932" y="674236"/>
                  </a:cubicBezTo>
                  <a:cubicBezTo>
                    <a:pt x="1422546" y="687623"/>
                    <a:pt x="1404390" y="695143"/>
                    <a:pt x="1385459" y="695143"/>
                  </a:cubicBezTo>
                  <a:lnTo>
                    <a:pt x="71381" y="695143"/>
                  </a:lnTo>
                  <a:cubicBezTo>
                    <a:pt x="52449" y="695143"/>
                    <a:pt x="34293" y="687623"/>
                    <a:pt x="20907" y="674236"/>
                  </a:cubicBezTo>
                  <a:cubicBezTo>
                    <a:pt x="7520" y="660850"/>
                    <a:pt x="0" y="642694"/>
                    <a:pt x="0" y="623762"/>
                  </a:cubicBezTo>
                  <a:lnTo>
                    <a:pt x="0" y="71381"/>
                  </a:lnTo>
                  <a:cubicBezTo>
                    <a:pt x="0" y="52449"/>
                    <a:pt x="7520" y="34293"/>
                    <a:pt x="20907" y="20907"/>
                  </a:cubicBezTo>
                  <a:cubicBezTo>
                    <a:pt x="34293" y="7520"/>
                    <a:pt x="52449" y="0"/>
                    <a:pt x="71381" y="0"/>
                  </a:cubicBezTo>
                  <a:close/>
                </a:path>
              </a:pathLst>
            </a:custGeom>
            <a:solidFill>
              <a:srgbClr val="2470C9"/>
            </a:solidFill>
          </p:spPr>
        </p:sp>
        <p:sp>
          <p:nvSpPr>
            <p:cNvPr name="TextBox 8" id="8"/>
            <p:cNvSpPr txBox="true"/>
            <p:nvPr/>
          </p:nvSpPr>
          <p:spPr>
            <a:xfrm>
              <a:off x="0" y="-38100"/>
              <a:ext cx="1456839" cy="733243"/>
            </a:xfrm>
            <a:prstGeom prst="rect">
              <a:avLst/>
            </a:prstGeom>
          </p:spPr>
          <p:txBody>
            <a:bodyPr anchor="ctr" rtlCol="false" tIns="177800" lIns="177800" bIns="177800" rIns="177800"/>
            <a:lstStyle/>
            <a:p>
              <a:pPr algn="ctr">
                <a:lnSpc>
                  <a:spcPts val="2659"/>
                </a:lnSpc>
              </a:pPr>
              <a:r>
                <a:rPr lang="en-US" sz="1899">
                  <a:solidFill>
                    <a:srgbClr val="FFFFFF"/>
                  </a:solidFill>
                  <a:latin typeface="Canva Sans"/>
                  <a:ea typeface="Canva Sans"/>
                  <a:cs typeface="Canva Sans"/>
                  <a:sym typeface="Canva Sans"/>
                </a:rPr>
                <a:t>We are using the oblast of the current damage event to predict the probabilty of where the next damage event will occur. The output isn’t a single location, but a probability distribution accross all possible locations. </a:t>
              </a:r>
            </a:p>
          </p:txBody>
        </p:sp>
      </p:grpSp>
      <p:grpSp>
        <p:nvGrpSpPr>
          <p:cNvPr name="Group 9" id="9"/>
          <p:cNvGrpSpPr/>
          <p:nvPr/>
        </p:nvGrpSpPr>
        <p:grpSpPr>
          <a:xfrm rot="0">
            <a:off x="7600950" y="4217752"/>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6299"/>
                </a:lnSpc>
              </a:pPr>
              <a:r>
                <a:rPr lang="en-US" b="true" sz="4499">
                  <a:solidFill>
                    <a:srgbClr val="000000"/>
                  </a:solidFill>
                  <a:latin typeface="Poppins Bold"/>
                  <a:ea typeface="Poppins Bold"/>
                  <a:cs typeface="Poppins Bold"/>
                  <a:sym typeface="Poppins Bold"/>
                </a:rPr>
                <a:t>Rayon</a:t>
              </a:r>
            </a:p>
          </p:txBody>
        </p:sp>
      </p:grpSp>
      <p:grpSp>
        <p:nvGrpSpPr>
          <p:cNvPr name="Group 12" id="12"/>
          <p:cNvGrpSpPr/>
          <p:nvPr/>
        </p:nvGrpSpPr>
        <p:grpSpPr>
          <a:xfrm rot="0">
            <a:off x="7223744" y="6820003"/>
            <a:ext cx="3840512" cy="1501785"/>
            <a:chOff x="0" y="0"/>
            <a:chExt cx="1011493" cy="395532"/>
          </a:xfrm>
        </p:grpSpPr>
        <p:sp>
          <p:nvSpPr>
            <p:cNvPr name="Freeform 13" id="13"/>
            <p:cNvSpPr/>
            <p:nvPr/>
          </p:nvSpPr>
          <p:spPr>
            <a:xfrm flipH="false" flipV="false" rot="0">
              <a:off x="0" y="0"/>
              <a:ext cx="1011493" cy="395532"/>
            </a:xfrm>
            <a:custGeom>
              <a:avLst/>
              <a:gdLst/>
              <a:ahLst/>
              <a:cxnLst/>
              <a:rect r="r" b="b" t="t" l="l"/>
              <a:pathLst>
                <a:path h="395532" w="1011493">
                  <a:moveTo>
                    <a:pt x="102809" y="0"/>
                  </a:moveTo>
                  <a:lnTo>
                    <a:pt x="908684" y="0"/>
                  </a:lnTo>
                  <a:cubicBezTo>
                    <a:pt x="965464" y="0"/>
                    <a:pt x="1011493" y="46029"/>
                    <a:pt x="1011493" y="102809"/>
                  </a:cubicBezTo>
                  <a:lnTo>
                    <a:pt x="1011493" y="292723"/>
                  </a:lnTo>
                  <a:cubicBezTo>
                    <a:pt x="1011493" y="319990"/>
                    <a:pt x="1000661" y="346140"/>
                    <a:pt x="981381" y="365420"/>
                  </a:cubicBezTo>
                  <a:cubicBezTo>
                    <a:pt x="962101" y="384700"/>
                    <a:pt x="935951" y="395532"/>
                    <a:pt x="908684" y="395532"/>
                  </a:cubicBezTo>
                  <a:lnTo>
                    <a:pt x="102809" y="395532"/>
                  </a:lnTo>
                  <a:cubicBezTo>
                    <a:pt x="46029" y="395532"/>
                    <a:pt x="0" y="349503"/>
                    <a:pt x="0" y="292723"/>
                  </a:cubicBezTo>
                  <a:lnTo>
                    <a:pt x="0" y="102809"/>
                  </a:lnTo>
                  <a:cubicBezTo>
                    <a:pt x="0" y="75542"/>
                    <a:pt x="10832" y="49392"/>
                    <a:pt x="30112" y="30112"/>
                  </a:cubicBezTo>
                  <a:cubicBezTo>
                    <a:pt x="49392" y="10832"/>
                    <a:pt x="75542" y="0"/>
                    <a:pt x="102809" y="0"/>
                  </a:cubicBezTo>
                  <a:close/>
                </a:path>
              </a:pathLst>
            </a:custGeom>
            <a:solidFill>
              <a:srgbClr val="2470C9"/>
            </a:solidFill>
          </p:spPr>
        </p:sp>
        <p:sp>
          <p:nvSpPr>
            <p:cNvPr name="TextBox 14" id="14"/>
            <p:cNvSpPr txBox="true"/>
            <p:nvPr/>
          </p:nvSpPr>
          <p:spPr>
            <a:xfrm>
              <a:off x="0" y="-38100"/>
              <a:ext cx="1011493" cy="433632"/>
            </a:xfrm>
            <a:prstGeom prst="rect">
              <a:avLst/>
            </a:prstGeom>
          </p:spPr>
          <p:txBody>
            <a:bodyPr anchor="ctr" rtlCol="false" tIns="177800" lIns="177800" bIns="177800" rIns="177800"/>
            <a:lstStyle/>
            <a:p>
              <a:pPr algn="ctr">
                <a:lnSpc>
                  <a:spcPts val="2659"/>
                </a:lnSpc>
              </a:pPr>
              <a:r>
                <a:rPr lang="en-US" sz="1899">
                  <a:solidFill>
                    <a:srgbClr val="FFFFFF"/>
                  </a:solidFill>
                  <a:latin typeface="Canva Sans"/>
                  <a:ea typeface="Canva Sans"/>
                  <a:cs typeface="Canva Sans"/>
                  <a:sym typeface="Canva Sans"/>
                </a:rPr>
                <a:t>Allows us to see patterns within a region</a:t>
              </a:r>
            </a:p>
          </p:txBody>
        </p:sp>
      </p:grpSp>
      <p:grpSp>
        <p:nvGrpSpPr>
          <p:cNvPr name="Group 15" id="15"/>
          <p:cNvGrpSpPr/>
          <p:nvPr/>
        </p:nvGrpSpPr>
        <p:grpSpPr>
          <a:xfrm rot="0">
            <a:off x="11840647" y="3600450"/>
            <a:ext cx="5320020" cy="3663341"/>
            <a:chOff x="0" y="0"/>
            <a:chExt cx="1401157" cy="964831"/>
          </a:xfrm>
        </p:grpSpPr>
        <p:sp>
          <p:nvSpPr>
            <p:cNvPr name="Freeform 16" id="16"/>
            <p:cNvSpPr/>
            <p:nvPr/>
          </p:nvSpPr>
          <p:spPr>
            <a:xfrm flipH="false" flipV="false" rot="0">
              <a:off x="0" y="0"/>
              <a:ext cx="1401157" cy="964831"/>
            </a:xfrm>
            <a:custGeom>
              <a:avLst/>
              <a:gdLst/>
              <a:ahLst/>
              <a:cxnLst/>
              <a:rect r="r" b="b" t="t" l="l"/>
              <a:pathLst>
                <a:path h="964831" w="1401157">
                  <a:moveTo>
                    <a:pt x="700579" y="0"/>
                  </a:moveTo>
                  <a:cubicBezTo>
                    <a:pt x="313660" y="0"/>
                    <a:pt x="0" y="215985"/>
                    <a:pt x="0" y="482415"/>
                  </a:cubicBezTo>
                  <a:cubicBezTo>
                    <a:pt x="0" y="748846"/>
                    <a:pt x="313660" y="964831"/>
                    <a:pt x="700579" y="964831"/>
                  </a:cubicBezTo>
                  <a:cubicBezTo>
                    <a:pt x="1087498" y="964831"/>
                    <a:pt x="1401157" y="748846"/>
                    <a:pt x="1401157" y="482415"/>
                  </a:cubicBezTo>
                  <a:cubicBezTo>
                    <a:pt x="1401157" y="215985"/>
                    <a:pt x="1087498" y="0"/>
                    <a:pt x="700579" y="0"/>
                  </a:cubicBezTo>
                  <a:close/>
                </a:path>
              </a:pathLst>
            </a:custGeom>
            <a:solidFill>
              <a:srgbClr val="FFDE59"/>
            </a:solidFill>
          </p:spPr>
        </p:sp>
        <p:sp>
          <p:nvSpPr>
            <p:cNvPr name="TextBox 17" id="17"/>
            <p:cNvSpPr txBox="true"/>
            <p:nvPr/>
          </p:nvSpPr>
          <p:spPr>
            <a:xfrm>
              <a:off x="131359" y="-33372"/>
              <a:ext cx="1138440" cy="907750"/>
            </a:xfrm>
            <a:prstGeom prst="rect">
              <a:avLst/>
            </a:prstGeom>
          </p:spPr>
          <p:txBody>
            <a:bodyPr anchor="ctr" rtlCol="false" tIns="50800" lIns="50800" bIns="50800" rIns="50800"/>
            <a:lstStyle/>
            <a:p>
              <a:pPr algn="ctr">
                <a:lnSpc>
                  <a:spcPts val="6299"/>
                </a:lnSpc>
              </a:pPr>
              <a:r>
                <a:rPr lang="en-US" b="true" sz="4499">
                  <a:solidFill>
                    <a:srgbClr val="000000"/>
                  </a:solidFill>
                  <a:latin typeface="Poppins Bold"/>
                  <a:ea typeface="Poppins Bold"/>
                  <a:cs typeface="Poppins Bold"/>
                  <a:sym typeface="Poppins Bold"/>
                </a:rPr>
                <a:t>Infrastructure Type</a:t>
              </a:r>
            </a:p>
          </p:txBody>
        </p:sp>
      </p:grpSp>
      <p:grpSp>
        <p:nvGrpSpPr>
          <p:cNvPr name="Group 18" id="18"/>
          <p:cNvGrpSpPr/>
          <p:nvPr/>
        </p:nvGrpSpPr>
        <p:grpSpPr>
          <a:xfrm rot="0">
            <a:off x="11734938" y="6618929"/>
            <a:ext cx="5531437" cy="1702859"/>
            <a:chOff x="0" y="0"/>
            <a:chExt cx="1456839" cy="448490"/>
          </a:xfrm>
        </p:grpSpPr>
        <p:sp>
          <p:nvSpPr>
            <p:cNvPr name="Freeform 19" id="19"/>
            <p:cNvSpPr/>
            <p:nvPr/>
          </p:nvSpPr>
          <p:spPr>
            <a:xfrm flipH="false" flipV="false" rot="0">
              <a:off x="0" y="0"/>
              <a:ext cx="1456839" cy="448490"/>
            </a:xfrm>
            <a:custGeom>
              <a:avLst/>
              <a:gdLst/>
              <a:ahLst/>
              <a:cxnLst/>
              <a:rect r="r" b="b" t="t" l="l"/>
              <a:pathLst>
                <a:path h="448490" w="1456839">
                  <a:moveTo>
                    <a:pt x="71381" y="0"/>
                  </a:moveTo>
                  <a:lnTo>
                    <a:pt x="1385459" y="0"/>
                  </a:lnTo>
                  <a:cubicBezTo>
                    <a:pt x="1424881" y="0"/>
                    <a:pt x="1456839" y="31958"/>
                    <a:pt x="1456839" y="71381"/>
                  </a:cubicBezTo>
                  <a:lnTo>
                    <a:pt x="1456839" y="377109"/>
                  </a:lnTo>
                  <a:cubicBezTo>
                    <a:pt x="1456839" y="396040"/>
                    <a:pt x="1449319" y="414196"/>
                    <a:pt x="1435932" y="427583"/>
                  </a:cubicBezTo>
                  <a:cubicBezTo>
                    <a:pt x="1422546" y="440969"/>
                    <a:pt x="1404390" y="448490"/>
                    <a:pt x="1385459" y="448490"/>
                  </a:cubicBezTo>
                  <a:lnTo>
                    <a:pt x="71381" y="448490"/>
                  </a:lnTo>
                  <a:cubicBezTo>
                    <a:pt x="52449" y="448490"/>
                    <a:pt x="34293" y="440969"/>
                    <a:pt x="20907" y="427583"/>
                  </a:cubicBezTo>
                  <a:cubicBezTo>
                    <a:pt x="7520" y="414196"/>
                    <a:pt x="0" y="396040"/>
                    <a:pt x="0" y="377109"/>
                  </a:cubicBezTo>
                  <a:lnTo>
                    <a:pt x="0" y="71381"/>
                  </a:lnTo>
                  <a:cubicBezTo>
                    <a:pt x="0" y="52449"/>
                    <a:pt x="7520" y="34293"/>
                    <a:pt x="20907" y="20907"/>
                  </a:cubicBezTo>
                  <a:cubicBezTo>
                    <a:pt x="34293" y="7520"/>
                    <a:pt x="52449" y="0"/>
                    <a:pt x="71381" y="0"/>
                  </a:cubicBezTo>
                  <a:close/>
                </a:path>
              </a:pathLst>
            </a:custGeom>
            <a:solidFill>
              <a:srgbClr val="2470C9"/>
            </a:solidFill>
          </p:spPr>
        </p:sp>
        <p:sp>
          <p:nvSpPr>
            <p:cNvPr name="TextBox 20" id="20"/>
            <p:cNvSpPr txBox="true"/>
            <p:nvPr/>
          </p:nvSpPr>
          <p:spPr>
            <a:xfrm>
              <a:off x="0" y="-38100"/>
              <a:ext cx="1456839" cy="486590"/>
            </a:xfrm>
            <a:prstGeom prst="rect">
              <a:avLst/>
            </a:prstGeom>
          </p:spPr>
          <p:txBody>
            <a:bodyPr anchor="ctr" rtlCol="false" tIns="177800" lIns="177800" bIns="177800" rIns="177800"/>
            <a:lstStyle/>
            <a:p>
              <a:pPr algn="ctr">
                <a:lnSpc>
                  <a:spcPts val="2659"/>
                </a:lnSpc>
              </a:pPr>
              <a:r>
                <a:rPr lang="en-US" sz="1899">
                  <a:solidFill>
                    <a:srgbClr val="FFFFFF"/>
                  </a:solidFill>
                  <a:latin typeface="Canva Sans"/>
                  <a:ea typeface="Canva Sans"/>
                  <a:cs typeface="Canva Sans"/>
                  <a:sym typeface="Canva Sans"/>
                </a:rPr>
                <a:t>To predict the type of the next target. This allows you to see any attack patterns. </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01980" y="-3192947"/>
            <a:ext cx="13257661" cy="10786310"/>
            <a:chOff x="0" y="0"/>
            <a:chExt cx="3491730" cy="2840839"/>
          </a:xfrm>
        </p:grpSpPr>
        <p:sp>
          <p:nvSpPr>
            <p:cNvPr name="Freeform 3" id="3"/>
            <p:cNvSpPr/>
            <p:nvPr/>
          </p:nvSpPr>
          <p:spPr>
            <a:xfrm flipH="false" flipV="false" rot="0">
              <a:off x="0" y="0"/>
              <a:ext cx="3491730" cy="2840839"/>
            </a:xfrm>
            <a:custGeom>
              <a:avLst/>
              <a:gdLst/>
              <a:ahLst/>
              <a:cxnLst/>
              <a:rect r="r" b="b" t="t" l="l"/>
              <a:pathLst>
                <a:path h="2840839" w="3491730">
                  <a:moveTo>
                    <a:pt x="29782" y="0"/>
                  </a:moveTo>
                  <a:lnTo>
                    <a:pt x="3461948" y="0"/>
                  </a:lnTo>
                  <a:cubicBezTo>
                    <a:pt x="3478396" y="0"/>
                    <a:pt x="3491730" y="13334"/>
                    <a:pt x="3491730" y="29782"/>
                  </a:cubicBezTo>
                  <a:lnTo>
                    <a:pt x="3491730" y="2811057"/>
                  </a:lnTo>
                  <a:cubicBezTo>
                    <a:pt x="3491730" y="2827505"/>
                    <a:pt x="3478396" y="2840839"/>
                    <a:pt x="3461948" y="2840839"/>
                  </a:cubicBezTo>
                  <a:lnTo>
                    <a:pt x="29782" y="2840839"/>
                  </a:lnTo>
                  <a:cubicBezTo>
                    <a:pt x="13334" y="2840839"/>
                    <a:pt x="0" y="2827505"/>
                    <a:pt x="0" y="2811057"/>
                  </a:cubicBezTo>
                  <a:lnTo>
                    <a:pt x="0" y="29782"/>
                  </a:lnTo>
                  <a:cubicBezTo>
                    <a:pt x="0" y="13334"/>
                    <a:pt x="13334" y="0"/>
                    <a:pt x="29782" y="0"/>
                  </a:cubicBezTo>
                  <a:close/>
                </a:path>
              </a:pathLst>
            </a:custGeom>
            <a:solidFill>
              <a:srgbClr val="FFDE59"/>
            </a:solidFill>
          </p:spPr>
        </p:sp>
        <p:sp>
          <p:nvSpPr>
            <p:cNvPr name="TextBox 4" id="4"/>
            <p:cNvSpPr txBox="true"/>
            <p:nvPr/>
          </p:nvSpPr>
          <p:spPr>
            <a:xfrm>
              <a:off x="0" y="-38100"/>
              <a:ext cx="3491730" cy="28789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6568050" y="160670"/>
            <a:ext cx="11072956" cy="9965660"/>
          </a:xfrm>
          <a:custGeom>
            <a:avLst/>
            <a:gdLst/>
            <a:ahLst/>
            <a:cxnLst/>
            <a:rect r="r" b="b" t="t" l="l"/>
            <a:pathLst>
              <a:path h="9965660" w="11072956">
                <a:moveTo>
                  <a:pt x="0" y="0"/>
                </a:moveTo>
                <a:lnTo>
                  <a:pt x="11072956" y="0"/>
                </a:lnTo>
                <a:lnTo>
                  <a:pt x="11072956" y="9965660"/>
                </a:lnTo>
                <a:lnTo>
                  <a:pt x="0" y="9965660"/>
                </a:lnTo>
                <a:lnTo>
                  <a:pt x="0" y="0"/>
                </a:lnTo>
                <a:close/>
              </a:path>
            </a:pathLst>
          </a:custGeom>
          <a:blipFill>
            <a:blip r:embed="rId2"/>
            <a:stretch>
              <a:fillRect l="0" t="0" r="0" b="0"/>
            </a:stretch>
          </a:blipFill>
        </p:spPr>
      </p:sp>
      <p:sp>
        <p:nvSpPr>
          <p:cNvPr name="TextBox 6" id="6"/>
          <p:cNvSpPr txBox="true"/>
          <p:nvPr/>
        </p:nvSpPr>
        <p:spPr>
          <a:xfrm rot="0">
            <a:off x="1028700" y="2515941"/>
            <a:ext cx="7113859" cy="3846195"/>
          </a:xfrm>
          <a:prstGeom prst="rect">
            <a:avLst/>
          </a:prstGeom>
        </p:spPr>
        <p:txBody>
          <a:bodyPr anchor="t" rtlCol="false" tIns="0" lIns="0" bIns="0" rIns="0">
            <a:spAutoFit/>
          </a:bodyPr>
          <a:lstStyle/>
          <a:p>
            <a:pPr algn="l">
              <a:lnSpc>
                <a:spcPts val="10080"/>
              </a:lnSpc>
            </a:pPr>
            <a:r>
              <a:rPr lang="en-US" sz="7200" b="true">
                <a:solidFill>
                  <a:srgbClr val="000000"/>
                </a:solidFill>
                <a:latin typeface="Poppins Bold"/>
                <a:ea typeface="Poppins Bold"/>
                <a:cs typeface="Poppins Bold"/>
                <a:sym typeface="Poppins Bold"/>
              </a:rPr>
              <a:t>Markov Transition Heatmap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01980" y="-3192947"/>
            <a:ext cx="13257661" cy="10786310"/>
            <a:chOff x="0" y="0"/>
            <a:chExt cx="3491730" cy="2840839"/>
          </a:xfrm>
        </p:grpSpPr>
        <p:sp>
          <p:nvSpPr>
            <p:cNvPr name="Freeform 3" id="3"/>
            <p:cNvSpPr/>
            <p:nvPr/>
          </p:nvSpPr>
          <p:spPr>
            <a:xfrm flipH="false" flipV="false" rot="0">
              <a:off x="0" y="0"/>
              <a:ext cx="3491730" cy="2840839"/>
            </a:xfrm>
            <a:custGeom>
              <a:avLst/>
              <a:gdLst/>
              <a:ahLst/>
              <a:cxnLst/>
              <a:rect r="r" b="b" t="t" l="l"/>
              <a:pathLst>
                <a:path h="2840839" w="3491730">
                  <a:moveTo>
                    <a:pt x="29782" y="0"/>
                  </a:moveTo>
                  <a:lnTo>
                    <a:pt x="3461948" y="0"/>
                  </a:lnTo>
                  <a:cubicBezTo>
                    <a:pt x="3478396" y="0"/>
                    <a:pt x="3491730" y="13334"/>
                    <a:pt x="3491730" y="29782"/>
                  </a:cubicBezTo>
                  <a:lnTo>
                    <a:pt x="3491730" y="2811057"/>
                  </a:lnTo>
                  <a:cubicBezTo>
                    <a:pt x="3491730" y="2827505"/>
                    <a:pt x="3478396" y="2840839"/>
                    <a:pt x="3461948" y="2840839"/>
                  </a:cubicBezTo>
                  <a:lnTo>
                    <a:pt x="29782" y="2840839"/>
                  </a:lnTo>
                  <a:cubicBezTo>
                    <a:pt x="13334" y="2840839"/>
                    <a:pt x="0" y="2827505"/>
                    <a:pt x="0" y="2811057"/>
                  </a:cubicBezTo>
                  <a:lnTo>
                    <a:pt x="0" y="29782"/>
                  </a:lnTo>
                  <a:cubicBezTo>
                    <a:pt x="0" y="13334"/>
                    <a:pt x="13334" y="0"/>
                    <a:pt x="29782" y="0"/>
                  </a:cubicBezTo>
                  <a:close/>
                </a:path>
              </a:pathLst>
            </a:custGeom>
            <a:solidFill>
              <a:srgbClr val="2470C9"/>
            </a:solidFill>
          </p:spPr>
        </p:sp>
        <p:sp>
          <p:nvSpPr>
            <p:cNvPr name="TextBox 4" id="4"/>
            <p:cNvSpPr txBox="true"/>
            <p:nvPr/>
          </p:nvSpPr>
          <p:spPr>
            <a:xfrm>
              <a:off x="0" y="-38100"/>
              <a:ext cx="3491730" cy="28789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142559" y="337363"/>
            <a:ext cx="9756967" cy="9143505"/>
          </a:xfrm>
          <a:custGeom>
            <a:avLst/>
            <a:gdLst/>
            <a:ahLst/>
            <a:cxnLst/>
            <a:rect r="r" b="b" t="t" l="l"/>
            <a:pathLst>
              <a:path h="9143505" w="9756967">
                <a:moveTo>
                  <a:pt x="0" y="0"/>
                </a:moveTo>
                <a:lnTo>
                  <a:pt x="9756966" y="0"/>
                </a:lnTo>
                <a:lnTo>
                  <a:pt x="9756966" y="9143505"/>
                </a:lnTo>
                <a:lnTo>
                  <a:pt x="0" y="9143505"/>
                </a:lnTo>
                <a:lnTo>
                  <a:pt x="0" y="0"/>
                </a:lnTo>
                <a:close/>
              </a:path>
            </a:pathLst>
          </a:custGeom>
          <a:blipFill>
            <a:blip r:embed="rId2"/>
            <a:stretch>
              <a:fillRect l="0" t="0" r="0" b="0"/>
            </a:stretch>
          </a:blipFill>
        </p:spPr>
      </p:sp>
      <p:sp>
        <p:nvSpPr>
          <p:cNvPr name="TextBox 6" id="6"/>
          <p:cNvSpPr txBox="true"/>
          <p:nvPr/>
        </p:nvSpPr>
        <p:spPr>
          <a:xfrm rot="0">
            <a:off x="846600" y="1163202"/>
            <a:ext cx="5084749" cy="5903594"/>
          </a:xfrm>
          <a:prstGeom prst="rect">
            <a:avLst/>
          </a:prstGeom>
        </p:spPr>
        <p:txBody>
          <a:bodyPr anchor="t" rtlCol="false" tIns="0" lIns="0" bIns="0" rIns="0">
            <a:spAutoFit/>
          </a:bodyPr>
          <a:lstStyle/>
          <a:p>
            <a:pPr algn="l">
              <a:lnSpc>
                <a:spcPts val="10080"/>
              </a:lnSpc>
            </a:pPr>
            <a:r>
              <a:rPr lang="en-US" sz="7200" b="true">
                <a:solidFill>
                  <a:srgbClr val="FFDE59"/>
                </a:solidFill>
                <a:latin typeface="Poppins Bold"/>
                <a:ea typeface="Poppins Bold"/>
                <a:cs typeface="Poppins Bold"/>
                <a:sym typeface="Poppins Bold"/>
              </a:rPr>
              <a:t>Markov Transition Heatmap</a:t>
            </a:r>
          </a:p>
          <a:p>
            <a:pPr algn="l">
              <a:lnSpc>
                <a:spcPts val="10080"/>
              </a:lnSpc>
            </a:pPr>
          </a:p>
          <a:p>
            <a:pPr algn="l">
              <a:lnSpc>
                <a:spcPts val="5880"/>
              </a:lnSpc>
            </a:pPr>
            <a:r>
              <a:rPr lang="en-US" sz="4200" b="true">
                <a:solidFill>
                  <a:srgbClr val="FFDE59"/>
                </a:solidFill>
                <a:latin typeface="Poppins Bold"/>
                <a:ea typeface="Poppins Bold"/>
                <a:cs typeface="Poppins Bold"/>
                <a:sym typeface="Poppins Bold"/>
              </a:rPr>
              <a:t>Source of Origin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07775" y="216598"/>
            <a:ext cx="10084753" cy="9794816"/>
          </a:xfrm>
          <a:custGeom>
            <a:avLst/>
            <a:gdLst/>
            <a:ahLst/>
            <a:cxnLst/>
            <a:rect r="r" b="b" t="t" l="l"/>
            <a:pathLst>
              <a:path h="9794816" w="10084753">
                <a:moveTo>
                  <a:pt x="0" y="0"/>
                </a:moveTo>
                <a:lnTo>
                  <a:pt x="10084753" y="0"/>
                </a:lnTo>
                <a:lnTo>
                  <a:pt x="10084753" y="9794816"/>
                </a:lnTo>
                <a:lnTo>
                  <a:pt x="0" y="9794816"/>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49014" y="160819"/>
            <a:ext cx="10119970" cy="9803721"/>
          </a:xfrm>
          <a:custGeom>
            <a:avLst/>
            <a:gdLst/>
            <a:ahLst/>
            <a:cxnLst/>
            <a:rect r="r" b="b" t="t" l="l"/>
            <a:pathLst>
              <a:path h="9803721" w="10119970">
                <a:moveTo>
                  <a:pt x="0" y="0"/>
                </a:moveTo>
                <a:lnTo>
                  <a:pt x="10119969" y="0"/>
                </a:lnTo>
                <a:lnTo>
                  <a:pt x="10119969" y="9803720"/>
                </a:lnTo>
                <a:lnTo>
                  <a:pt x="0" y="980372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89611" y="-7521737"/>
            <a:ext cx="13257661" cy="9939290"/>
            <a:chOff x="0" y="0"/>
            <a:chExt cx="3491730" cy="2617755"/>
          </a:xfrm>
        </p:grpSpPr>
        <p:sp>
          <p:nvSpPr>
            <p:cNvPr name="Freeform 3" id="3"/>
            <p:cNvSpPr/>
            <p:nvPr/>
          </p:nvSpPr>
          <p:spPr>
            <a:xfrm flipH="false" flipV="false" rot="0">
              <a:off x="0" y="0"/>
              <a:ext cx="3491730" cy="2617755"/>
            </a:xfrm>
            <a:custGeom>
              <a:avLst/>
              <a:gdLst/>
              <a:ahLst/>
              <a:cxnLst/>
              <a:rect r="r" b="b" t="t" l="l"/>
              <a:pathLst>
                <a:path h="2617755" w="3491730">
                  <a:moveTo>
                    <a:pt x="29782" y="0"/>
                  </a:moveTo>
                  <a:lnTo>
                    <a:pt x="3461948" y="0"/>
                  </a:lnTo>
                  <a:cubicBezTo>
                    <a:pt x="3478396" y="0"/>
                    <a:pt x="3491730" y="13334"/>
                    <a:pt x="3491730" y="29782"/>
                  </a:cubicBezTo>
                  <a:lnTo>
                    <a:pt x="3491730" y="2587973"/>
                  </a:lnTo>
                  <a:cubicBezTo>
                    <a:pt x="3491730" y="2604421"/>
                    <a:pt x="3478396" y="2617755"/>
                    <a:pt x="3461948" y="2617755"/>
                  </a:cubicBezTo>
                  <a:lnTo>
                    <a:pt x="29782" y="2617755"/>
                  </a:lnTo>
                  <a:cubicBezTo>
                    <a:pt x="13334" y="2617755"/>
                    <a:pt x="0" y="2604421"/>
                    <a:pt x="0" y="2587973"/>
                  </a:cubicBezTo>
                  <a:lnTo>
                    <a:pt x="0" y="29782"/>
                  </a:lnTo>
                  <a:cubicBezTo>
                    <a:pt x="0" y="13334"/>
                    <a:pt x="13334" y="0"/>
                    <a:pt x="29782" y="0"/>
                  </a:cubicBezTo>
                  <a:close/>
                </a:path>
              </a:pathLst>
            </a:custGeom>
            <a:solidFill>
              <a:srgbClr val="FFDE59"/>
            </a:solidFill>
          </p:spPr>
        </p:sp>
        <p:sp>
          <p:nvSpPr>
            <p:cNvPr name="TextBox 4" id="4"/>
            <p:cNvSpPr txBox="true"/>
            <p:nvPr/>
          </p:nvSpPr>
          <p:spPr>
            <a:xfrm>
              <a:off x="0" y="-38100"/>
              <a:ext cx="3491730" cy="265585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949400" y="2417553"/>
            <a:ext cx="12309900" cy="7309003"/>
          </a:xfrm>
          <a:custGeom>
            <a:avLst/>
            <a:gdLst/>
            <a:ahLst/>
            <a:cxnLst/>
            <a:rect r="r" b="b" t="t" l="l"/>
            <a:pathLst>
              <a:path h="7309003" w="12309900">
                <a:moveTo>
                  <a:pt x="0" y="0"/>
                </a:moveTo>
                <a:lnTo>
                  <a:pt x="12309900" y="0"/>
                </a:lnTo>
                <a:lnTo>
                  <a:pt x="12309900" y="7309003"/>
                </a:lnTo>
                <a:lnTo>
                  <a:pt x="0" y="7309003"/>
                </a:lnTo>
                <a:lnTo>
                  <a:pt x="0" y="0"/>
                </a:lnTo>
                <a:close/>
              </a:path>
            </a:pathLst>
          </a:custGeom>
          <a:blipFill>
            <a:blip r:embed="rId2"/>
            <a:stretch>
              <a:fillRect l="0" t="0" r="0" b="0"/>
            </a:stretch>
          </a:blipFill>
        </p:spPr>
      </p:sp>
      <p:sp>
        <p:nvSpPr>
          <p:cNvPr name="TextBox 6" id="6"/>
          <p:cNvSpPr txBox="true"/>
          <p:nvPr/>
        </p:nvSpPr>
        <p:spPr>
          <a:xfrm rot="0">
            <a:off x="1028700" y="828675"/>
            <a:ext cx="7113859" cy="1293495"/>
          </a:xfrm>
          <a:prstGeom prst="rect">
            <a:avLst/>
          </a:prstGeom>
        </p:spPr>
        <p:txBody>
          <a:bodyPr anchor="t" rtlCol="false" tIns="0" lIns="0" bIns="0" rIns="0">
            <a:spAutoFit/>
          </a:bodyPr>
          <a:lstStyle/>
          <a:p>
            <a:pPr algn="l">
              <a:lnSpc>
                <a:spcPts val="10080"/>
              </a:lnSpc>
            </a:pPr>
            <a:r>
              <a:rPr lang="en-US" sz="7200" b="true">
                <a:solidFill>
                  <a:srgbClr val="000000"/>
                </a:solidFill>
                <a:latin typeface="Poppins Bold"/>
                <a:ea typeface="Poppins Bold"/>
                <a:cs typeface="Poppins Bold"/>
                <a:sym typeface="Poppins Bold"/>
              </a:rPr>
              <a:t>Results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06556" y="3207307"/>
            <a:ext cx="14474887" cy="5826142"/>
          </a:xfrm>
          <a:custGeom>
            <a:avLst/>
            <a:gdLst/>
            <a:ahLst/>
            <a:cxnLst/>
            <a:rect r="r" b="b" t="t" l="l"/>
            <a:pathLst>
              <a:path h="5826142" w="14474887">
                <a:moveTo>
                  <a:pt x="0" y="0"/>
                </a:moveTo>
                <a:lnTo>
                  <a:pt x="14474888" y="0"/>
                </a:lnTo>
                <a:lnTo>
                  <a:pt x="14474888" y="5826142"/>
                </a:lnTo>
                <a:lnTo>
                  <a:pt x="0" y="5826142"/>
                </a:lnTo>
                <a:lnTo>
                  <a:pt x="0" y="0"/>
                </a:lnTo>
                <a:close/>
              </a:path>
            </a:pathLst>
          </a:custGeom>
          <a:blipFill>
            <a:blip r:embed="rId2"/>
            <a:stretch>
              <a:fillRect l="0" t="0" r="0" b="0"/>
            </a:stretch>
          </a:blipFill>
        </p:spPr>
      </p:sp>
      <p:sp>
        <p:nvSpPr>
          <p:cNvPr name="TextBox 6" id="6"/>
          <p:cNvSpPr txBox="true"/>
          <p:nvPr/>
        </p:nvSpPr>
        <p:spPr>
          <a:xfrm rot="0">
            <a:off x="4752834" y="325625"/>
            <a:ext cx="9165857"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Results (Part 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38447" y="3044556"/>
            <a:ext cx="14794629" cy="6213744"/>
          </a:xfrm>
          <a:custGeom>
            <a:avLst/>
            <a:gdLst/>
            <a:ahLst/>
            <a:cxnLst/>
            <a:rect r="r" b="b" t="t" l="l"/>
            <a:pathLst>
              <a:path h="6213744" w="14794629">
                <a:moveTo>
                  <a:pt x="0" y="0"/>
                </a:moveTo>
                <a:lnTo>
                  <a:pt x="14794630" y="0"/>
                </a:lnTo>
                <a:lnTo>
                  <a:pt x="14794630" y="6213744"/>
                </a:lnTo>
                <a:lnTo>
                  <a:pt x="0" y="6213744"/>
                </a:lnTo>
                <a:lnTo>
                  <a:pt x="0" y="0"/>
                </a:lnTo>
                <a:close/>
              </a:path>
            </a:pathLst>
          </a:custGeom>
          <a:blipFill>
            <a:blip r:embed="rId2"/>
            <a:stretch>
              <a:fillRect l="0" t="0" r="0" b="0"/>
            </a:stretch>
          </a:blipFill>
        </p:spPr>
      </p:sp>
      <p:sp>
        <p:nvSpPr>
          <p:cNvPr name="TextBox 6" id="6"/>
          <p:cNvSpPr txBox="true"/>
          <p:nvPr/>
        </p:nvSpPr>
        <p:spPr>
          <a:xfrm rot="0">
            <a:off x="4732975" y="325625"/>
            <a:ext cx="9205573"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Results (Part 3)</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242020" y="3394761"/>
            <a:ext cx="13803960" cy="9303499"/>
            <a:chOff x="0" y="0"/>
            <a:chExt cx="3635611" cy="2450304"/>
          </a:xfrm>
        </p:grpSpPr>
        <p:sp>
          <p:nvSpPr>
            <p:cNvPr name="Freeform 6" id="6"/>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FFFF"/>
            </a:solidFill>
          </p:spPr>
        </p:sp>
        <p:sp>
          <p:nvSpPr>
            <p:cNvPr name="TextBox 7" id="7"/>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3493371" y="3671271"/>
            <a:ext cx="11301259" cy="5806022"/>
          </a:xfrm>
          <a:custGeom>
            <a:avLst/>
            <a:gdLst/>
            <a:ahLst/>
            <a:cxnLst/>
            <a:rect r="r" b="b" t="t" l="l"/>
            <a:pathLst>
              <a:path h="5806022" w="11301259">
                <a:moveTo>
                  <a:pt x="0" y="0"/>
                </a:moveTo>
                <a:lnTo>
                  <a:pt x="11301258" y="0"/>
                </a:lnTo>
                <a:lnTo>
                  <a:pt x="11301258" y="5806022"/>
                </a:lnTo>
                <a:lnTo>
                  <a:pt x="0" y="5806022"/>
                </a:lnTo>
                <a:lnTo>
                  <a:pt x="0" y="0"/>
                </a:lnTo>
                <a:close/>
              </a:path>
            </a:pathLst>
          </a:custGeom>
          <a:blipFill>
            <a:blip r:embed="rId2"/>
            <a:stretch>
              <a:fillRect l="0" t="0" r="0" b="0"/>
            </a:stretch>
          </a:blipFill>
        </p:spPr>
      </p:sp>
      <p:sp>
        <p:nvSpPr>
          <p:cNvPr name="TextBox 9" id="9"/>
          <p:cNvSpPr txBox="true"/>
          <p:nvPr/>
        </p:nvSpPr>
        <p:spPr>
          <a:xfrm rot="0">
            <a:off x="4969570" y="325625"/>
            <a:ext cx="9668896"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Results (Part 4)</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5224" y="1285184"/>
            <a:ext cx="3086100" cy="9303499"/>
            <a:chOff x="0" y="0"/>
            <a:chExt cx="812800" cy="2450304"/>
          </a:xfrm>
        </p:grpSpPr>
        <p:sp>
          <p:nvSpPr>
            <p:cNvPr name="Freeform 3" id="3"/>
            <p:cNvSpPr/>
            <p:nvPr/>
          </p:nvSpPr>
          <p:spPr>
            <a:xfrm flipH="false" flipV="false" rot="0">
              <a:off x="0" y="0"/>
              <a:ext cx="812800" cy="2450304"/>
            </a:xfrm>
            <a:custGeom>
              <a:avLst/>
              <a:gdLst/>
              <a:ahLst/>
              <a:cxnLst/>
              <a:rect r="r" b="b" t="t" l="l"/>
              <a:pathLst>
                <a:path h="2450304" w="812800">
                  <a:moveTo>
                    <a:pt x="127941" y="0"/>
                  </a:moveTo>
                  <a:lnTo>
                    <a:pt x="684859" y="0"/>
                  </a:lnTo>
                  <a:cubicBezTo>
                    <a:pt x="718791" y="0"/>
                    <a:pt x="751333" y="13479"/>
                    <a:pt x="775327" y="37473"/>
                  </a:cubicBezTo>
                  <a:cubicBezTo>
                    <a:pt x="799321" y="61467"/>
                    <a:pt x="812800" y="94009"/>
                    <a:pt x="812800" y="127941"/>
                  </a:cubicBezTo>
                  <a:lnTo>
                    <a:pt x="812800" y="2322364"/>
                  </a:lnTo>
                  <a:cubicBezTo>
                    <a:pt x="812800" y="2356296"/>
                    <a:pt x="799321" y="2388838"/>
                    <a:pt x="775327" y="2412831"/>
                  </a:cubicBezTo>
                  <a:cubicBezTo>
                    <a:pt x="751333" y="2436825"/>
                    <a:pt x="718791" y="2450304"/>
                    <a:pt x="684859" y="2450304"/>
                  </a:cubicBezTo>
                  <a:lnTo>
                    <a:pt x="127941" y="2450304"/>
                  </a:lnTo>
                  <a:cubicBezTo>
                    <a:pt x="94009" y="2450304"/>
                    <a:pt x="61467" y="2436825"/>
                    <a:pt x="37473" y="2412831"/>
                  </a:cubicBezTo>
                  <a:cubicBezTo>
                    <a:pt x="13479" y="2388838"/>
                    <a:pt x="0" y="2356296"/>
                    <a:pt x="0" y="2322364"/>
                  </a:cubicBezTo>
                  <a:lnTo>
                    <a:pt x="0" y="127941"/>
                  </a:lnTo>
                  <a:cubicBezTo>
                    <a:pt x="0" y="94009"/>
                    <a:pt x="13479" y="61467"/>
                    <a:pt x="37473" y="37473"/>
                  </a:cubicBezTo>
                  <a:cubicBezTo>
                    <a:pt x="61467" y="13479"/>
                    <a:pt x="94009" y="0"/>
                    <a:pt x="127941" y="0"/>
                  </a:cubicBezTo>
                  <a:close/>
                </a:path>
              </a:pathLst>
            </a:custGeom>
            <a:solidFill>
              <a:srgbClr val="2470C9"/>
            </a:solidFill>
          </p:spPr>
        </p:sp>
        <p:sp>
          <p:nvSpPr>
            <p:cNvPr name="TextBox 4" id="4"/>
            <p:cNvSpPr txBox="true"/>
            <p:nvPr/>
          </p:nvSpPr>
          <p:spPr>
            <a:xfrm>
              <a:off x="0" y="-38100"/>
              <a:ext cx="812800"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791152" y="2144325"/>
            <a:ext cx="5016026" cy="4472283"/>
          </a:xfrm>
          <a:custGeom>
            <a:avLst/>
            <a:gdLst/>
            <a:ahLst/>
            <a:cxnLst/>
            <a:rect r="r" b="b" t="t" l="l"/>
            <a:pathLst>
              <a:path h="4472283" w="5016026">
                <a:moveTo>
                  <a:pt x="0" y="0"/>
                </a:moveTo>
                <a:lnTo>
                  <a:pt x="5016026" y="0"/>
                </a:lnTo>
                <a:lnTo>
                  <a:pt x="5016026" y="4472284"/>
                </a:lnTo>
                <a:lnTo>
                  <a:pt x="0" y="4472284"/>
                </a:lnTo>
                <a:lnTo>
                  <a:pt x="0" y="0"/>
                </a:lnTo>
                <a:close/>
              </a:path>
            </a:pathLst>
          </a:custGeom>
          <a:blipFill>
            <a:blip r:embed="rId2"/>
            <a:stretch>
              <a:fillRect l="0" t="0" r="0" b="0"/>
            </a:stretch>
          </a:blipFill>
        </p:spPr>
      </p:sp>
      <p:sp>
        <p:nvSpPr>
          <p:cNvPr name="Freeform 6" id="6"/>
          <p:cNvSpPr/>
          <p:nvPr/>
        </p:nvSpPr>
        <p:spPr>
          <a:xfrm flipH="false" flipV="false" rot="0">
            <a:off x="11767576" y="1982731"/>
            <a:ext cx="5118531" cy="4549805"/>
          </a:xfrm>
          <a:custGeom>
            <a:avLst/>
            <a:gdLst/>
            <a:ahLst/>
            <a:cxnLst/>
            <a:rect r="r" b="b" t="t" l="l"/>
            <a:pathLst>
              <a:path h="4549805" w="5118531">
                <a:moveTo>
                  <a:pt x="0" y="0"/>
                </a:moveTo>
                <a:lnTo>
                  <a:pt x="5118531" y="0"/>
                </a:lnTo>
                <a:lnTo>
                  <a:pt x="5118531" y="4549806"/>
                </a:lnTo>
                <a:lnTo>
                  <a:pt x="0" y="4549806"/>
                </a:lnTo>
                <a:lnTo>
                  <a:pt x="0" y="0"/>
                </a:lnTo>
                <a:close/>
              </a:path>
            </a:pathLst>
          </a:custGeom>
          <a:blipFill>
            <a:blip r:embed="rId3"/>
            <a:stretch>
              <a:fillRect l="0" t="0" r="0" b="0"/>
            </a:stretch>
          </a:blipFill>
        </p:spPr>
      </p:sp>
      <p:sp>
        <p:nvSpPr>
          <p:cNvPr name="Freeform 7" id="7"/>
          <p:cNvSpPr/>
          <p:nvPr/>
        </p:nvSpPr>
        <p:spPr>
          <a:xfrm flipH="false" flipV="false" rot="0">
            <a:off x="7060051" y="6364911"/>
            <a:ext cx="5851194" cy="3922089"/>
          </a:xfrm>
          <a:custGeom>
            <a:avLst/>
            <a:gdLst/>
            <a:ahLst/>
            <a:cxnLst/>
            <a:rect r="r" b="b" t="t" l="l"/>
            <a:pathLst>
              <a:path h="3922089" w="5851194">
                <a:moveTo>
                  <a:pt x="0" y="0"/>
                </a:moveTo>
                <a:lnTo>
                  <a:pt x="5851194" y="0"/>
                </a:lnTo>
                <a:lnTo>
                  <a:pt x="5851194" y="3922089"/>
                </a:lnTo>
                <a:lnTo>
                  <a:pt x="0" y="3922089"/>
                </a:lnTo>
                <a:lnTo>
                  <a:pt x="0" y="0"/>
                </a:lnTo>
                <a:close/>
              </a:path>
            </a:pathLst>
          </a:custGeom>
          <a:blipFill>
            <a:blip r:embed="rId4"/>
            <a:stretch>
              <a:fillRect l="0" t="0" r="0" b="0"/>
            </a:stretch>
          </a:blipFill>
        </p:spPr>
      </p:sp>
      <p:sp>
        <p:nvSpPr>
          <p:cNvPr name="TextBox 8" id="8"/>
          <p:cNvSpPr txBox="true"/>
          <p:nvPr/>
        </p:nvSpPr>
        <p:spPr>
          <a:xfrm rot="0">
            <a:off x="4124707" y="330462"/>
            <a:ext cx="12065709"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Expansion: GeoData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51461" y="205284"/>
            <a:ext cx="14785078" cy="9876432"/>
          </a:xfrm>
          <a:custGeom>
            <a:avLst/>
            <a:gdLst/>
            <a:ahLst/>
            <a:cxnLst/>
            <a:rect r="r" b="b" t="t" l="l"/>
            <a:pathLst>
              <a:path h="9876432" w="14785078">
                <a:moveTo>
                  <a:pt x="0" y="0"/>
                </a:moveTo>
                <a:lnTo>
                  <a:pt x="14785078" y="0"/>
                </a:lnTo>
                <a:lnTo>
                  <a:pt x="14785078" y="9876432"/>
                </a:lnTo>
                <a:lnTo>
                  <a:pt x="0" y="9876432"/>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p:cSld>
    <p:bg>
      <p:bgPr>
        <a:solidFill>
          <a:srgbClr val="145499"/>
        </a:solidFill>
      </p:bgPr>
    </p:bg>
    <p:spTree>
      <p:nvGrpSpPr>
        <p:cNvPr id="1" name=""/>
        <p:cNvGrpSpPr/>
        <p:nvPr/>
      </p:nvGrpSpPr>
      <p:grpSpPr>
        <a:xfrm>
          <a:off x="0" y="0"/>
          <a:ext cx="0" cy="0"/>
          <a:chOff x="0" y="0"/>
          <a:chExt cx="0" cy="0"/>
        </a:xfrm>
      </p:grpSpPr>
      <p:grpSp>
        <p:nvGrpSpPr>
          <p:cNvPr name="Group 2" id="2"/>
          <p:cNvGrpSpPr/>
          <p:nvPr/>
        </p:nvGrpSpPr>
        <p:grpSpPr>
          <a:xfrm rot="0">
            <a:off x="1627027" y="-65545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0293" y="8876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4468294">
            <a:off x="15976693" y="5500275"/>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4468294">
            <a:off x="16917994" y="7876328"/>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971877" y="4188778"/>
            <a:ext cx="6344245" cy="1652270"/>
          </a:xfrm>
          <a:prstGeom prst="rect">
            <a:avLst/>
          </a:prstGeom>
        </p:spPr>
        <p:txBody>
          <a:bodyPr anchor="t" rtlCol="false" tIns="0" lIns="0" bIns="0" rIns="0">
            <a:spAutoFit/>
          </a:bodyPr>
          <a:lstStyle/>
          <a:p>
            <a:pPr algn="ctr">
              <a:lnSpc>
                <a:spcPts val="12880"/>
              </a:lnSpc>
            </a:pPr>
            <a:r>
              <a:rPr lang="en-US" b="true" sz="9200">
                <a:solidFill>
                  <a:srgbClr val="FFDE59"/>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DAG4lzJM2YU</dc:identifier>
  <dcterms:modified xsi:type="dcterms:W3CDTF">2011-08-01T06:04:30Z</dcterms:modified>
  <cp:revision>1</cp:revision>
  <dc:title>Project NOBLE</dc:title>
</cp:coreProperties>
</file>